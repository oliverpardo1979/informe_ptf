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df74460cad84fcd" /><Relationship Type="http://schemas.openxmlformats.org/officeDocument/2006/relationships/extended-properties" Target="/docProps/app.xml" Id="Rd64d8de058f54205" /><Relationship Type="http://schemas.openxmlformats.org/officeDocument/2006/relationships/officeDocument" Target="/ppt/presentation.xml" Id="R0aff2e237adc48f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08a835e50d24ed0"/>
  </p:sldMasterIdLst>
  <p:notesMasterIdLst>
    <p:notesMasterId xmlns:r="http://schemas.openxmlformats.org/officeDocument/2006/relationships" r:id="R248747c2ece1401c"/>
  </p:notesMasterIdLst>
  <p:sldIdLst>
    <p:sldId xmlns:r="http://schemas.openxmlformats.org/officeDocument/2006/relationships" id="256" r:id="Rce507c626f1046df"/>
    <p:sldId xmlns:r="http://schemas.openxmlformats.org/officeDocument/2006/relationships" id="257" r:id="R6c515419ebcf4c58"/>
    <p:sldId xmlns:r="http://schemas.openxmlformats.org/officeDocument/2006/relationships" id="258" r:id="Rae5305a7b5594cc9"/>
    <p:sldId xmlns:r="http://schemas.openxmlformats.org/officeDocument/2006/relationships" id="259" r:id="Rc85cf948ac974967"/>
    <p:sldId xmlns:r="http://schemas.openxmlformats.org/officeDocument/2006/relationships" id="260" r:id="R86359c73abee4a58"/>
    <p:sldId xmlns:r="http://schemas.openxmlformats.org/officeDocument/2006/relationships" id="261" r:id="Rdf7e9c8da4344def"/>
    <p:sldId xmlns:r="http://schemas.openxmlformats.org/officeDocument/2006/relationships" id="262" r:id="Rb74f502430fe425e"/>
    <p:sldId xmlns:r="http://schemas.openxmlformats.org/officeDocument/2006/relationships" id="263" r:id="R0106e2b26a4444e8"/>
    <p:sldId xmlns:r="http://schemas.openxmlformats.org/officeDocument/2006/relationships" id="264" r:id="R37227c2f75334146"/>
    <p:sldId xmlns:r="http://schemas.openxmlformats.org/officeDocument/2006/relationships" id="265" r:id="R001ed313e60c4d11"/>
    <p:sldId xmlns:r="http://schemas.openxmlformats.org/officeDocument/2006/relationships" id="266" r:id="R9514784ebd0a49a0"/>
    <p:sldId xmlns:r="http://schemas.openxmlformats.org/officeDocument/2006/relationships" id="267" r:id="Rd45d4db346164652"/>
    <p:sldId xmlns:r="http://schemas.openxmlformats.org/officeDocument/2006/relationships" id="268" r:id="R199afc1fb2494446"/>
    <p:sldId xmlns:r="http://schemas.openxmlformats.org/officeDocument/2006/relationships" id="269" r:id="R0b8657772eb94b22"/>
    <p:sldId xmlns:r="http://schemas.openxmlformats.org/officeDocument/2006/relationships" id="270" r:id="Rea5642f579704abf"/>
    <p:sldId xmlns:r="http://schemas.openxmlformats.org/officeDocument/2006/relationships" id="271" r:id="R1b92e75f7a9b466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6378465dba6486d" /><Relationship Type="http://schemas.openxmlformats.org/officeDocument/2006/relationships/slideMaster" Target="/ppt/slideMasters/slideMaster1.xml" Id="R808a835e50d24ed0" /><Relationship Type="http://schemas.openxmlformats.org/officeDocument/2006/relationships/notesMaster" Target="/ppt/notesMasters/notesMaster1.xml" Id="R248747c2ece1401c" /><Relationship Type="http://schemas.openxmlformats.org/officeDocument/2006/relationships/presProps" Target="/ppt/presProps.xml" Id="Rd02d955dfd9d41ae" /><Relationship Type="http://schemas.openxmlformats.org/officeDocument/2006/relationships/tableStyles" Target="/ppt/tableStyles.xml" Id="Rc2d587ba0dd04836" /><Relationship Type="http://schemas.openxmlformats.org/officeDocument/2006/relationships/slide" Target="/ppt/slides/slide1.xml" Id="Rce507c626f1046df" /><Relationship Type="http://schemas.openxmlformats.org/officeDocument/2006/relationships/slide" Target="/ppt/slides/slide2.xml" Id="R6c515419ebcf4c58" /><Relationship Type="http://schemas.openxmlformats.org/officeDocument/2006/relationships/slide" Target="/ppt/slides/slide3.xml" Id="Rae5305a7b5594cc9" /><Relationship Type="http://schemas.openxmlformats.org/officeDocument/2006/relationships/slide" Target="/ppt/slides/slide4.xml" Id="Rc85cf948ac974967" /><Relationship Type="http://schemas.openxmlformats.org/officeDocument/2006/relationships/slide" Target="/ppt/slides/slide5.xml" Id="R86359c73abee4a58" /><Relationship Type="http://schemas.openxmlformats.org/officeDocument/2006/relationships/slide" Target="/ppt/slides/slide6.xml" Id="Rdf7e9c8da4344def" /><Relationship Type="http://schemas.openxmlformats.org/officeDocument/2006/relationships/slide" Target="/ppt/slides/slide7.xml" Id="Rb74f502430fe425e" /><Relationship Type="http://schemas.openxmlformats.org/officeDocument/2006/relationships/slide" Target="/ppt/slides/slide8.xml" Id="R0106e2b26a4444e8" /><Relationship Type="http://schemas.openxmlformats.org/officeDocument/2006/relationships/slide" Target="/ppt/slides/slide9.xml" Id="R37227c2f75334146" /><Relationship Type="http://schemas.openxmlformats.org/officeDocument/2006/relationships/slide" Target="/ppt/slides/slide10.xml" Id="R001ed313e60c4d11" /><Relationship Type="http://schemas.openxmlformats.org/officeDocument/2006/relationships/slide" Target="/ppt/slides/slide11.xml" Id="R9514784ebd0a49a0" /><Relationship Type="http://schemas.openxmlformats.org/officeDocument/2006/relationships/slide" Target="/ppt/slides/slide12.xml" Id="Rd45d4db346164652" /><Relationship Type="http://schemas.openxmlformats.org/officeDocument/2006/relationships/slide" Target="/ppt/slides/slide13.xml" Id="R199afc1fb2494446" /><Relationship Type="http://schemas.openxmlformats.org/officeDocument/2006/relationships/slide" Target="/ppt/slides/slide14.xml" Id="R0b8657772eb94b22" /><Relationship Type="http://schemas.openxmlformats.org/officeDocument/2006/relationships/slide" Target="/ppt/slides/slide15.xml" Id="Rea5642f579704abf" /><Relationship Type="http://schemas.openxmlformats.org/officeDocument/2006/relationships/slide" Target="/ppt/slides/slide16.xml" Id="R1b92e75f7a9b466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59ab0dc8b134ef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71e19c0f523436d" /><Relationship Type="http://schemas.openxmlformats.org/officeDocument/2006/relationships/notesMaster" Target="/ppt/notesMasters/notesMaster1.xml" Id="Rd2f02e814f5d4ca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99def919a0048dd" /><Relationship Type="http://schemas.openxmlformats.org/officeDocument/2006/relationships/notesMaster" Target="/ppt/notesMasters/notesMaster1.xml" Id="R678c32778b0642e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9b9ca22ecf54058" /><Relationship Type="http://schemas.openxmlformats.org/officeDocument/2006/relationships/notesMaster" Target="/ppt/notesMasters/notesMaster1.xml" Id="R33f1e903623c4df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c45829891e24401" /><Relationship Type="http://schemas.openxmlformats.org/officeDocument/2006/relationships/notesMaster" Target="/ppt/notesMasters/notesMaster1.xml" Id="R2705a9345d71402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7b6ec6ae9e7447a" /><Relationship Type="http://schemas.openxmlformats.org/officeDocument/2006/relationships/notesMaster" Target="/ppt/notesMasters/notesMaster1.xml" Id="Rb22bd0a94eee4c3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92f0e421a0a4db2" /><Relationship Type="http://schemas.openxmlformats.org/officeDocument/2006/relationships/notesMaster" Target="/ppt/notesMasters/notesMaster1.xml" Id="R4858a3e8efe04ee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122632fb49f4311" /><Relationship Type="http://schemas.openxmlformats.org/officeDocument/2006/relationships/notesMaster" Target="/ppt/notesMasters/notesMaster1.xml" Id="R0e3285c6f12b4d3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fdcf0a28de44215" /><Relationship Type="http://schemas.openxmlformats.org/officeDocument/2006/relationships/notesMaster" Target="/ppt/notesMasters/notesMaster1.xml" Id="R706dad6da5d94e1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7e46b9e7013407d" /><Relationship Type="http://schemas.openxmlformats.org/officeDocument/2006/relationships/notesMaster" Target="/ppt/notesMasters/notesMaster1.xml" Id="Rac2f6013b8f644b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3075bc5ca9f4522" /><Relationship Type="http://schemas.openxmlformats.org/officeDocument/2006/relationships/notesMaster" Target="/ppt/notesMasters/notesMaster1.xml" Id="R5fb22ff386e946a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6d3cf8998e24d05" /><Relationship Type="http://schemas.openxmlformats.org/officeDocument/2006/relationships/notesMaster" Target="/ppt/notesMasters/notesMaster1.xml" Id="R932d4ddd9136412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c16c5d8b72a4e75" /><Relationship Type="http://schemas.openxmlformats.org/officeDocument/2006/relationships/notesMaster" Target="/ppt/notesMasters/notesMaster1.xml" Id="R8327416cf7784f6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45819937e3d41c0" /><Relationship Type="http://schemas.openxmlformats.org/officeDocument/2006/relationships/notesMaster" Target="/ppt/notesMasters/notesMaster1.xml" Id="Ra64bac1549ff4f0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a7fea86c2344066" /><Relationship Type="http://schemas.openxmlformats.org/officeDocument/2006/relationships/notesMaster" Target="/ppt/notesMasters/notesMaster1.xml" Id="Rb773352983fe401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ea3b7ff47534309" /><Relationship Type="http://schemas.openxmlformats.org/officeDocument/2006/relationships/notesMaster" Target="/ppt/notesMasters/notesMaster1.xml" Id="R9591ae01abce4fd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6c48162d4c94e09" /><Relationship Type="http://schemas.openxmlformats.org/officeDocument/2006/relationships/notesMaster" Target="/ppt/notesMasters/notesMaster1.xml" Id="R35f357c4a8ed4df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Centro Javeriano de Competitividad, Informe 02: La Productividad Total de los Factores por Actividad Económica en Colombia.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DANE, nota metodológica de la Productividad Total de los Factores.</a:t>
            </a:r>
          </a:p>
          <a:p xmlns:a="http://schemas.openxmlformats.org/drawingml/2006/main">
            <a:r>
              <a:t>- Centro Javeriano de Competitividad, Informe 02, secciones 2 y 3.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Centro Javeriano de Competitividad, Informe 02: La Productividad Total de los Factores por Actividad Económica en Colombia, índice encadenado de la PTF total.</a:t>
            </a:r>
          </a:p>
          <a:p xmlns:a="http://schemas.openxmlformats.org/drawingml/2006/main">
            <a:r>
              <a:t>- Fuente primaria: DANE, anexo PTF 2025.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Centro Javeriano de Competitividad, Informe 02: La Productividad Total de los Factores por Actividad Económica en Colombia, crecimiento anual de la PTF total.</a:t>
            </a:r>
          </a:p>
          <a:p xmlns:a="http://schemas.openxmlformats.org/drawingml/2006/main">
            <a:r>
              <a:t>- Fuente primaria: DANE, anexo PTF 2025.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Centro Javeriano de Competitividad, Informe 02: La Productividad Total de los Factores por Actividad Económica en Colombia, descomposición del crecimiento del valor agregado bruto.</a:t>
            </a:r>
          </a:p>
          <a:p xmlns:a="http://schemas.openxmlformats.org/drawingml/2006/main">
            <a:r>
              <a:t>- Fuente primaria: DANE, anexo PTF 2025.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Centro Javeriano de Competitividad, Informe 02, contrafactual agregado bajo el enfoque de valor agregado.</a:t>
            </a:r>
          </a:p>
          <a:p xmlns:a="http://schemas.openxmlformats.org/drawingml/2006/main">
            <a:r>
              <a:t>- Fuente primaria: DANE, anexo PTF 2025.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Centro Javeriano de Competitividad, Informe 02: La Productividad Total de los Factores por Actividad Económica en Colombia, crecimiento anual de la PTF por actividad.</a:t>
            </a:r>
          </a:p>
          <a:p xmlns:a="http://schemas.openxmlformats.org/drawingml/2006/main">
            <a:r>
              <a:t>- Fuente primaria: DANE, anexo PTF 2025.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Centro Javeriano de Competitividad, Informe 02: La Productividad Total de los Factores por Actividad Económica en Colombia, crecimiento de largo plazo de la PTF por actividad.</a:t>
            </a:r>
          </a:p>
          <a:p xmlns:a="http://schemas.openxmlformats.org/drawingml/2006/main">
            <a:r>
              <a:t>- Fuente primaria: DANE, anexo PTF 2025.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Centro Javeriano de Competitividad, Informe 02, Cuadro A1: evolución de la PTF por actividad y contribución al total.</a:t>
            </a:r>
          </a:p>
          <a:p xmlns:a="http://schemas.openxmlformats.org/drawingml/2006/main">
            <a:r>
              <a:t>- Fuente primaria: DANE, anexo PTF 2025.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Centro Javeriano de Competitividad, Informe 02: La Productividad Total de los Factores por Actividad Económica en Colombia, contribuciones de las actividades a la PTF total.</a:t>
            </a:r>
          </a:p>
          <a:p xmlns:a="http://schemas.openxmlformats.org/drawingml/2006/main">
            <a:r>
              <a:t>- Fuente primaria: DANE, anexo PTF 2025.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Centro Javeriano de Competitividad, Informe 02: La Productividad Total de los Factores por Actividad Económica en Colombia, contribuciones sectoriales por subperiodo.</a:t>
            </a:r>
          </a:p>
          <a:p xmlns:a="http://schemas.openxmlformats.org/drawingml/2006/main">
            <a:r>
              <a:t>- Fuente primaria: DANE, anexo PTF 2025.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Centro Javeriano de Competitividad, Informe 02: La Productividad Total de los Factores por Actividad Económica en Colombia, descomposición del crecimiento de la producción por actividad.</a:t>
            </a:r>
          </a:p>
          <a:p xmlns:a="http://schemas.openxmlformats.org/drawingml/2006/main">
            <a:r>
              <a:t>- Fuente primaria: DANE, anexo PTF 2025.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Centro Javeriano de Competitividad, Informe 02: La Productividad Total de los Factores por Actividad Económica en Colombia, contrafactual de contribuciones sectoriales al crecimiento.</a:t>
            </a:r>
          </a:p>
          <a:p xmlns:a="http://schemas.openxmlformats.org/drawingml/2006/main">
            <a:r>
              <a:t>- Fuente primaria: DANE, anexo PTF 2025.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Centro Javeriano de Competitividad, Informe 02, conclusiones.</a:t>
            </a:r>
          </a:p>
          <a:p xmlns:a="http://schemas.openxmlformats.org/drawingml/2006/main">
            <a:r>
              <a:t>- Fuente primaria: DANE, anexo PTF 2025.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Centro Javeriano de Competitividad, Informe 02, Cuadro 1.</a:t>
            </a:r>
          </a:p>
          <a:p xmlns:a="http://schemas.openxmlformats.org/drawingml/2006/main">
            <a:r>
              <a:t>- DANE, clasificación sectorial utilizada en el anexo PTF 2025.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Centro Javeriano de Competitividad, Informe 02, Cuadro 1.</a:t>
            </a:r>
          </a:p>
          <a:p xmlns:a="http://schemas.openxmlformats.org/drawingml/2006/main">
            <a:r>
              <a:t>- DANE, clasificación sectorial utilizada en el anexo PTF 2025.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eab7f9056643b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e554edcf7a74f9e" /><Relationship Type="http://schemas.openxmlformats.org/officeDocument/2006/relationships/slideLayout" Target="/ppt/slideLayouts/slideLayout1.xml" Id="R126eee9516c044b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26eee9516c044b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aa072ea1a4421c" /><Relationship Type="http://schemas.openxmlformats.org/officeDocument/2006/relationships/image" Target="/ppt/media/image.png" Id="R23e2fe07c6444361" /><Relationship Type="http://schemas.openxmlformats.org/officeDocument/2006/relationships/notesSlide" Target="/ppt/notesSlides/notesSlide1.xml" Id="R4fcd6ab793804fe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051249904e4ec3" /><Relationship Type="http://schemas.openxmlformats.org/officeDocument/2006/relationships/notesSlide" Target="/ppt/notesSlides/notesSlide2.xml" Id="R25a47cecb5414ae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170e969ef14e45" /><Relationship Type="http://schemas.openxmlformats.org/officeDocument/2006/relationships/image" Target="/ppt/media/image2.png" Id="R21922ba301734af1" /><Relationship Type="http://schemas.openxmlformats.org/officeDocument/2006/relationships/notesSlide" Target="/ppt/notesSlides/notesSlide3.xml" Id="R27238ed58644492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f5cca744d6457f" /><Relationship Type="http://schemas.openxmlformats.org/officeDocument/2006/relationships/image" Target="/ppt/media/image3.png" Id="Rdf77602b368c44db" /><Relationship Type="http://schemas.openxmlformats.org/officeDocument/2006/relationships/notesSlide" Target="/ppt/notesSlides/notesSlide4.xml" Id="R3ed0e4ec55c64ad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32f149121042f1" /><Relationship Type="http://schemas.openxmlformats.org/officeDocument/2006/relationships/image" Target="/ppt/media/image4.png" Id="R2a3a08c233544a08" /><Relationship Type="http://schemas.openxmlformats.org/officeDocument/2006/relationships/notesSlide" Target="/ppt/notesSlides/notesSlide5.xml" Id="Re94b9ea46a1d4ef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a411d81fea4722" /><Relationship Type="http://schemas.openxmlformats.org/officeDocument/2006/relationships/notesSlide" Target="/ppt/notesSlides/notesSlide6.xml" Id="R84723088d1214b4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b4e34907594925" /><Relationship Type="http://schemas.openxmlformats.org/officeDocument/2006/relationships/image" Target="/ppt/media/image5.png" Id="Re1ae047020e84927" /><Relationship Type="http://schemas.openxmlformats.org/officeDocument/2006/relationships/notesSlide" Target="/ppt/notesSlides/notesSlide7.xml" Id="Rf5ed9b4a833b43b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2f3e736d39461b" /><Relationship Type="http://schemas.openxmlformats.org/officeDocument/2006/relationships/image" Target="/ppt/media/image6.png" Id="R19aa11b155284075" /><Relationship Type="http://schemas.openxmlformats.org/officeDocument/2006/relationships/notesSlide" Target="/ppt/notesSlides/notesSlide8.xml" Id="Rf54c1a602565494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f62131b66e48e1" /><Relationship Type="http://schemas.openxmlformats.org/officeDocument/2006/relationships/notesSlide" Target="/ppt/notesSlides/notesSlide9.xml" Id="R7ad59999391d424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1f172e32224120" /><Relationship Type="http://schemas.openxmlformats.org/officeDocument/2006/relationships/image" Target="/ppt/media/image7.png" Id="R557e81ff198045f6" /><Relationship Type="http://schemas.openxmlformats.org/officeDocument/2006/relationships/notesSlide" Target="/ppt/notesSlides/notesSlide10.xml" Id="R6fc8e736593147b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a4b18ceceb4725" /><Relationship Type="http://schemas.openxmlformats.org/officeDocument/2006/relationships/image" Target="/ppt/media/image8.png" Id="Ra73e9111b7ef4d87" /><Relationship Type="http://schemas.openxmlformats.org/officeDocument/2006/relationships/notesSlide" Target="/ppt/notesSlides/notesSlide11.xml" Id="Rdab645726c3f497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f98e1684634838" /><Relationship Type="http://schemas.openxmlformats.org/officeDocument/2006/relationships/image" Target="/ppt/media/image9.png" Id="Rfc5afd973789458f" /><Relationship Type="http://schemas.openxmlformats.org/officeDocument/2006/relationships/notesSlide" Target="/ppt/notesSlides/notesSlide12.xml" Id="R02957f59b8cd41e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01f7dc8cfc4c8f" /><Relationship Type="http://schemas.openxmlformats.org/officeDocument/2006/relationships/image" Target="/ppt/media/image10.png" Id="Rfd87331c9a444639" /><Relationship Type="http://schemas.openxmlformats.org/officeDocument/2006/relationships/notesSlide" Target="/ppt/notesSlides/notesSlide13.xml" Id="R1ebc23329340454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0d72a5d57e41e0" /><Relationship Type="http://schemas.openxmlformats.org/officeDocument/2006/relationships/notesSlide" Target="/ppt/notesSlides/notesSlide14.xml" Id="R1e4a13164064438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f5810eab36412b" /><Relationship Type="http://schemas.openxmlformats.org/officeDocument/2006/relationships/notesSlide" Target="/ppt/notesSlides/notesSlide15.xml" Id="R81b881337b77421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a3f6f227414d87" /><Relationship Type="http://schemas.openxmlformats.org/officeDocument/2006/relationships/notesSlide" Target="/ppt/notesSlides/notesSlide16.xml" Id="R7763395d4b5b493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e2fe07c6444361"/>
          <a:stretch xmlns:a="http://schemas.openxmlformats.org/drawingml/2006/main"/>
        </p:blipFill>
        <p:spPr>
          <a:xfrm xmlns:a="http://schemas.openxmlformats.org/drawingml/2006/main">
            <a:off x="636489" y="419100"/>
            <a:ext cx="3098998" cy="9906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E810D1-A8C2-4C0C-8EF8-74A26B15F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38300"/>
            <a:ext cx="857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4A4A4A"/>
                </a:solidFill>
              </a:defRPr>
            </a:pPr>
            <a:r>
              <a:rPr sz="2100">
                <a:solidFill>
                  <a:srgbClr val="4A4A4A"/>
                </a:solidFill>
              </a:rPr>
              <a:t>Informes sobre la Productividad en Colombia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A8161F-1EF6-4272-B169-185B05F3A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3835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4A4A4A"/>
                </a:solidFill>
              </a:defRPr>
            </a:pPr>
            <a:r>
              <a:rPr sz="1725">
                <a:solidFill>
                  <a:srgbClr val="4A4A4A"/>
                </a:solidFill>
              </a:rPr>
              <a:t>Informe 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E97114-94A4-4441-A251-980F8ADA9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33650"/>
            <a:ext cx="2000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C400"/>
          </a:solidFill>
          <a:ln xmlns:a="http://schemas.openxmlformats.org/drawingml/2006/main" w="0">
            <a:solidFill>
              <a:srgbClr val="F2C40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851E03-53D1-470E-9B8B-638B06985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533650"/>
            <a:ext cx="8286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EA8"/>
          </a:solidFill>
          <a:ln xmlns:a="http://schemas.openxmlformats.org/drawingml/2006/main" w="0">
            <a:solidFill>
              <a:srgbClr val="1F5EA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53B3A8-EDE3-4104-8749-48A5EF994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09900"/>
            <a:ext cx="10572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365D"/>
                </a:solidFill>
              </a:defRPr>
            </a:pPr>
            <a:r>
              <a:rPr sz="4050" b="1">
                <a:solidFill>
                  <a:srgbClr val="17365D"/>
                </a:solidFill>
              </a:rPr>
              <a:t>La Productividad Total de los Factores por Actividad Económica en Colombia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2617AD-FD3C-4B8B-B6C2-3331B93AF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291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4A4A4A"/>
                </a:solidFill>
              </a:defRPr>
            </a:pPr>
            <a:r>
              <a:rPr sz="2100">
                <a:solidFill>
                  <a:srgbClr val="4A4A4A"/>
                </a:solidFill>
              </a:rPr>
              <a:t>Avances y retrocesos, 2005–2025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E3E9C6-2FE8-4E20-B3D7-F717E22F4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57850"/>
            <a:ext cx="619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222222"/>
                </a:solidFill>
              </a:defRPr>
            </a:pPr>
            <a:r>
              <a:rPr sz="1800">
                <a:solidFill>
                  <a:srgbClr val="222222"/>
                </a:solidFill>
              </a:rPr>
              <a:t>Oliver Pardo  |  Jorge Orozco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57F4EA-EAAB-4EC3-91C8-EABAEA5A7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67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4A4A4A"/>
                </a:solidFill>
              </a:defRPr>
            </a:pPr>
            <a:r>
              <a:rPr sz="1500">
                <a:solidFill>
                  <a:srgbClr val="4A4A4A"/>
                </a:solidFill>
              </a:rPr>
              <a:t>Julio de 2026</a:t>
            </a:r>
          </a:p>
        </p:txBody>
      </p:sp>
    </p:spTree>
    <p:extLst>
      <p:ext uri="{BB962C8B-B14F-4D97-AF65-F5344CB8AC3E}">
        <p14:creationId xmlns:p14="http://schemas.microsoft.com/office/powerpoint/2010/main" val="2733276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881E79A-F9BA-4239-BC55-20689D258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"/>
            <a:ext cx="11201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365D"/>
                </a:solidFill>
              </a:defRPr>
            </a:pPr>
            <a:r>
              <a:rPr sz="2850" b="1">
                <a:solidFill>
                  <a:srgbClr val="17365D"/>
                </a:solidFill>
              </a:rPr>
              <a:t>La PTF mide cuánto cambia la producción sin acumular más factores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1D0987-C986-4492-81BE-2943BE9CA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81050"/>
            <a:ext cx="166687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C400"/>
          </a:solidFill>
          <a:ln xmlns:a="http://schemas.openxmlformats.org/drawingml/2006/main" w="0">
            <a:solidFill>
              <a:srgbClr val="F2C40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F92747-A712-4D46-A021-AA2A3BF0F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2175" y="781050"/>
            <a:ext cx="7239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EA8"/>
          </a:solidFill>
          <a:ln xmlns:a="http://schemas.openxmlformats.org/drawingml/2006/main" w="0">
            <a:solidFill>
              <a:srgbClr val="1F5EA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5734B9-14DA-4E94-9D90-90278050D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95350"/>
            <a:ext cx="11201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5EA8"/>
                </a:solidFill>
              </a:defRPr>
            </a:pPr>
            <a:r>
              <a:rPr sz="1650" b="1">
                <a:solidFill>
                  <a:srgbClr val="1F5EA8"/>
                </a:solidFill>
              </a:rPr>
              <a:t>El DANE publica un enfoque agregado y otro que permite comparar nueve ramas.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905082-F7A4-4089-8F88-A4C9B9174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00200"/>
            <a:ext cx="300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7365D"/>
                </a:solidFill>
              </a:defRPr>
            </a:pPr>
            <a:r>
              <a:rPr sz="1950" b="1">
                <a:solidFill>
                  <a:srgbClr val="17365D"/>
                </a:solidFill>
              </a:rPr>
              <a:t>Crecimiento de la producción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2B205A-BD8E-4B3D-B81F-C3D2AD151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1581150"/>
            <a:ext cx="457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4A4A4A"/>
                </a:solidFill>
              </a:defRPr>
            </a:pPr>
            <a:r>
              <a:rPr sz="2400" b="1">
                <a:solidFill>
                  <a:srgbClr val="4A4A4A"/>
                </a:solidFill>
              </a:rPr>
              <a:t>=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D4967D-B857-407E-ACB4-42AC757F6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600200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F5EA8"/>
                </a:solidFill>
              </a:defRPr>
            </a:pPr>
            <a:r>
              <a:rPr sz="1950" b="1">
                <a:solidFill>
                  <a:srgbClr val="1F5EA8"/>
                </a:solidFill>
              </a:rPr>
              <a:t>Trabajo + capital + insumos intermedios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6E0A5E-28D2-454E-8F8E-7EFC83948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581150"/>
            <a:ext cx="457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4A4A4A"/>
                </a:solidFill>
              </a:defRPr>
            </a:pPr>
            <a:r>
              <a:rPr sz="2400" b="1">
                <a:solidFill>
                  <a:srgbClr val="4A4A4A"/>
                </a:solidFill>
              </a:rPr>
              <a:t>+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381A20-F302-4CA9-86D4-B080EDCAD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600200"/>
            <a:ext cx="1381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B07800"/>
                </a:solidFill>
              </a:defRPr>
            </a:pPr>
            <a:r>
              <a:rPr sz="2100" b="1">
                <a:solidFill>
                  <a:srgbClr val="B07800"/>
                </a:solidFill>
              </a:rPr>
              <a:t>PTF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68A249-9663-45A2-ABC8-DDD2E9B22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66950"/>
            <a:ext cx="11010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solidFill>
              <a:srgbClr val="D9DEE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B1A868-F51B-476F-86F5-A2A3E3AA7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47950"/>
            <a:ext cx="438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365D"/>
                </a:solidFill>
              </a:defRPr>
            </a:pPr>
            <a:r>
              <a:rPr sz="2175" b="1">
                <a:solidFill>
                  <a:srgbClr val="17365D"/>
                </a:solidFill>
              </a:rPr>
              <a:t>Enfoque de valor agregado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505E69-838C-4359-9319-29D645612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19450"/>
            <a:ext cx="4381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222222"/>
                </a:solidFill>
              </a:defRPr>
            </a:pPr>
            <a:r>
              <a:rPr sz="1800">
                <a:solidFill>
                  <a:srgbClr val="222222"/>
                </a:solidFill>
              </a:rPr>
              <a:t>Total de la economía</a:t>
            </a:r>
          </a:p>
          <a:p xmlns:a="http://schemas.openxmlformats.org/drawingml/2006/main">
            <a:pPr>
              <a:defRPr sz="1800">
                <a:solidFill>
                  <a:srgbClr val="222222"/>
                </a:solidFill>
              </a:defRPr>
            </a:pPr>
            <a:r>
              <a:rPr sz="1800">
                <a:solidFill>
                  <a:srgbClr val="222222"/>
                </a:solidFill>
              </a:rPr>
              <a:t>2005–2025</a:t>
            </a:r>
          </a:p>
          <a:p xmlns:a="http://schemas.openxmlformats.org/drawingml/2006/main">
            <a:pPr>
              <a:defRPr sz="1800">
                <a:solidFill>
                  <a:srgbClr val="222222"/>
                </a:solidFill>
              </a:defRPr>
            </a:pPr>
            <a:r>
              <a:rPr sz="1800">
                <a:solidFill>
                  <a:srgbClr val="222222"/>
                </a:solidFill>
              </a:rPr>
              <a:t>Trabajo + capital + PTF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EFA362-4CE1-47B8-BBD6-21BD3B59C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647950"/>
            <a:ext cx="438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365D"/>
                </a:solidFill>
              </a:defRPr>
            </a:pPr>
            <a:r>
              <a:rPr sz="2175" b="1">
                <a:solidFill>
                  <a:srgbClr val="17365D"/>
                </a:solidFill>
              </a:rPr>
              <a:t>Enfoque de producción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AA237C-99CF-422E-A21D-97A3DEDF9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219450"/>
            <a:ext cx="4762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222222"/>
                </a:solidFill>
              </a:defRPr>
            </a:pPr>
            <a:r>
              <a:rPr sz="1800">
                <a:solidFill>
                  <a:srgbClr val="222222"/>
                </a:solidFill>
              </a:rPr>
              <a:t>Total y nueve ramas exhaustivas</a:t>
            </a:r>
          </a:p>
          <a:p xmlns:a="http://schemas.openxmlformats.org/drawingml/2006/main">
            <a:pPr>
              <a:defRPr sz="1800">
                <a:solidFill>
                  <a:srgbClr val="222222"/>
                </a:solidFill>
              </a:defRPr>
            </a:pPr>
            <a:r>
              <a:rPr sz="1800">
                <a:solidFill>
                  <a:srgbClr val="222222"/>
                </a:solidFill>
              </a:rPr>
              <a:t>2005–2024</a:t>
            </a:r>
          </a:p>
          <a:p xmlns:a="http://schemas.openxmlformats.org/drawingml/2006/main">
            <a:pPr>
              <a:defRPr sz="1800">
                <a:solidFill>
                  <a:srgbClr val="222222"/>
                </a:solidFill>
              </a:defRPr>
            </a:pPr>
            <a:r>
              <a:rPr sz="1800">
                <a:solidFill>
                  <a:srgbClr val="222222"/>
                </a:solidFill>
              </a:rPr>
              <a:t>Trabajo + capital + energía + materiales + servicios + PTF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CC1EA0-FA14-46E1-A62B-CC400B9AA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334000"/>
            <a:ext cx="10382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i="1">
                <a:solidFill>
                  <a:srgbClr val="6B6B6B"/>
                </a:solidFill>
              </a:defRPr>
            </a:pPr>
            <a:r>
              <a:rPr sz="1650" i="1">
                <a:solidFill>
                  <a:srgbClr val="6B6B6B"/>
                </a:solidFill>
              </a:rPr>
              <a:t>La diferencia entre ambos resultados no es una inconsistencia: los insumos descontados son distintos.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E69463-916E-42C8-B9F1-6C2214A34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53200"/>
            <a:ext cx="952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EA8"/>
          </a:solidFill>
          <a:ln xmlns:a="http://schemas.openxmlformats.org/drawingml/2006/main" w="0">
            <a:solidFill>
              <a:srgbClr val="1F5EA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202927-409B-4E9D-9763-F68E66805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553200"/>
            <a:ext cx="2667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4A4A4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AEAE05-DAF9-46E3-931A-B4EC915BC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5913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</a:rPr>
              <a:t>Centro Javeriano de Competitividad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FE9C5A-E832-4430-8827-D8214E04D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91300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</a:rPr>
              <a:t>2/16</a:t>
            </a:r>
          </a:p>
        </p:txBody>
      </p:sp>
    </p:spTree>
    <p:extLst>
      <p:ext uri="{BB962C8B-B14F-4D97-AF65-F5344CB8AC3E}">
        <p14:creationId xmlns:p14="http://schemas.microsoft.com/office/powerpoint/2010/main" val="120164141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DD84EC-586E-4A76-8227-3B3885F6D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"/>
            <a:ext cx="11201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365D"/>
                </a:solidFill>
              </a:defRPr>
            </a:pPr>
            <a:r>
              <a:rPr sz="2850" b="1">
                <a:solidFill>
                  <a:srgbClr val="17365D"/>
                </a:solidFill>
              </a:rPr>
              <a:t>La PTF total terminó 1,5% por debajo de su nivel de 2004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127235-935A-47BE-84B8-122E4C255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81050"/>
            <a:ext cx="166687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C400"/>
          </a:solidFill>
          <a:ln xmlns:a="http://schemas.openxmlformats.org/drawingml/2006/main" w="0">
            <a:solidFill>
              <a:srgbClr val="F2C40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E796EF-9FE2-4EEF-8508-BEB26D955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2175" y="781050"/>
            <a:ext cx="7239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EA8"/>
          </a:solidFill>
          <a:ln xmlns:a="http://schemas.openxmlformats.org/drawingml/2006/main" w="0">
            <a:solidFill>
              <a:srgbClr val="1F5EA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358CAC-1102-4403-AFE7-74DD16686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95350"/>
            <a:ext cx="11201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5EA8"/>
                </a:solidFill>
              </a:defRPr>
            </a:pPr>
            <a:r>
              <a:rPr sz="1650" b="1">
                <a:solidFill>
                  <a:srgbClr val="1F5EA8"/>
                </a:solidFill>
              </a:rPr>
              <a:t>El índice encadenado cayó de 100 a 98,5 bajo el enfoque de producción.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922ba301734af1"/>
          <a:stretch xmlns:a="http://schemas.openxmlformats.org/drawingml/2006/main"/>
        </p:blipFill>
        <p:spPr>
          <a:xfrm xmlns:a="http://schemas.openxmlformats.org/drawingml/2006/main">
            <a:off x="1501140" y="1257300"/>
            <a:ext cx="9189720" cy="51054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980C8D-0FD2-452A-B6B8-4D9F5BD0B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53200"/>
            <a:ext cx="952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EA8"/>
          </a:solidFill>
          <a:ln xmlns:a="http://schemas.openxmlformats.org/drawingml/2006/main" w="0">
            <a:solidFill>
              <a:srgbClr val="1F5EA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39A380-170D-4234-8AF3-C2A8ED13D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553200"/>
            <a:ext cx="2667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4A4A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F4CEA0-BD52-4F8A-9946-2B3BD449C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5913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</a:rPr>
              <a:t>Centro Javeriano de Competitividad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A56511-1F0E-43A2-9C70-6C9256651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91300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</a:rPr>
              <a:t>3/16</a:t>
            </a:r>
          </a:p>
        </p:txBody>
      </p:sp>
    </p:spTree>
    <p:extLst>
      <p:ext uri="{BB962C8B-B14F-4D97-AF65-F5344CB8AC3E}">
        <p14:creationId xmlns:p14="http://schemas.microsoft.com/office/powerpoint/2010/main" val="40399660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9EA641-B82E-4C8F-A813-5DF6A248D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"/>
            <a:ext cx="11201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365D"/>
                </a:solidFill>
              </a:defRPr>
            </a:pPr>
            <a:r>
              <a:rPr sz="2850" b="1">
                <a:solidFill>
                  <a:srgbClr val="17365D"/>
                </a:solidFill>
              </a:rPr>
              <a:t>La PTF cayó en 10 de los 21 años observados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98B9F8-13C0-4C0D-9E0F-88677262D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81050"/>
            <a:ext cx="166687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C400"/>
          </a:solidFill>
          <a:ln xmlns:a="http://schemas.openxmlformats.org/drawingml/2006/main" w="0">
            <a:solidFill>
              <a:srgbClr val="F2C40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015084-28BD-4302-8450-DBA15F633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2175" y="781050"/>
            <a:ext cx="7239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EA8"/>
          </a:solidFill>
          <a:ln xmlns:a="http://schemas.openxmlformats.org/drawingml/2006/main" w="0">
            <a:solidFill>
              <a:srgbClr val="1F5EA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10867A-0615-42EC-97CD-41B6ED5B4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95350"/>
            <a:ext cx="11201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5EA8"/>
                </a:solidFill>
              </a:defRPr>
            </a:pPr>
            <a:r>
              <a:rPr sz="1650" b="1">
                <a:solidFill>
                  <a:srgbClr val="1F5EA8"/>
                </a:solidFill>
              </a:rPr>
              <a:t>El saldo fue una caída acumulada de 2,8%, equivalente a –0,14% por año.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77602b368c44db"/>
          <a:stretch xmlns:a="http://schemas.openxmlformats.org/drawingml/2006/main"/>
        </p:blipFill>
        <p:spPr>
          <a:xfrm xmlns:a="http://schemas.openxmlformats.org/drawingml/2006/main">
            <a:off x="1501140" y="1257300"/>
            <a:ext cx="9189720" cy="51054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E0BB2C-7C68-4CA9-A47A-1F179E716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53200"/>
            <a:ext cx="952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EA8"/>
          </a:solidFill>
          <a:ln xmlns:a="http://schemas.openxmlformats.org/drawingml/2006/main" w="0">
            <a:solidFill>
              <a:srgbClr val="1F5EA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9A421E-4680-40A0-8902-481DFFE97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553200"/>
            <a:ext cx="2667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4A4A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4E28B8-FB00-4B2D-98B9-8219E43F9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5913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</a:rPr>
              <a:t>Centro Javeriano de Competitividad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46ECD5-4A6A-4BA0-9D80-A0D870AC1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91300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</a:rPr>
              <a:t>4/16</a:t>
            </a:r>
          </a:p>
        </p:txBody>
      </p:sp>
    </p:spTree>
    <p:extLst>
      <p:ext uri="{BB962C8B-B14F-4D97-AF65-F5344CB8AC3E}">
        <p14:creationId xmlns:p14="http://schemas.microsoft.com/office/powerpoint/2010/main" val="177391959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02959D-9872-4E3D-9EA4-9F1566DA1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"/>
            <a:ext cx="11201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365D"/>
                </a:solidFill>
              </a:defRPr>
            </a:pPr>
            <a:r>
              <a:rPr sz="2850" b="1">
                <a:solidFill>
                  <a:srgbClr val="17365D"/>
                </a:solidFill>
              </a:rPr>
              <a:t>El crecimiento dependió del trabajo y el capital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76A5EE-2C32-4B06-9240-21AF3943F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81050"/>
            <a:ext cx="166687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C400"/>
          </a:solidFill>
          <a:ln xmlns:a="http://schemas.openxmlformats.org/drawingml/2006/main" w="0">
            <a:solidFill>
              <a:srgbClr val="F2C40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0D9398-A7B0-4EDA-A79E-2FD475796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2175" y="781050"/>
            <a:ext cx="7239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EA8"/>
          </a:solidFill>
          <a:ln xmlns:a="http://schemas.openxmlformats.org/drawingml/2006/main" w="0">
            <a:solidFill>
              <a:srgbClr val="1F5EA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4C7372-8578-48E9-A7CB-FCD47E8B0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95350"/>
            <a:ext cx="11201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5EA8"/>
                </a:solidFill>
              </a:defRPr>
            </a:pPr>
            <a:r>
              <a:rPr sz="1650" b="1">
                <a:solidFill>
                  <a:srgbClr val="1F5EA8"/>
                </a:solidFill>
              </a:rPr>
              <a:t>Trabajo: +1,73 pp; capital: +1,79 pp; PTF: –0,14 pp por año.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3a08c233544a08"/>
          <a:stretch xmlns:a="http://schemas.openxmlformats.org/drawingml/2006/main"/>
        </p:blipFill>
        <p:spPr>
          <a:xfrm xmlns:a="http://schemas.openxmlformats.org/drawingml/2006/main">
            <a:off x="1501140" y="1257300"/>
            <a:ext cx="9189720" cy="51054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5CD148-6197-47D9-A528-87A3797A7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53200"/>
            <a:ext cx="952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EA8"/>
          </a:solidFill>
          <a:ln xmlns:a="http://schemas.openxmlformats.org/drawingml/2006/main" w="0">
            <a:solidFill>
              <a:srgbClr val="1F5EA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2D3CDA-CD05-4762-8EAF-0B9D66514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553200"/>
            <a:ext cx="2667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4A4A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66075E-A797-46B7-AD48-74F1BD44D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5913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</a:rPr>
              <a:t>Centro Javeriano de Competitividad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826607-C0AE-4065-AC58-11FF35C1D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91300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</a:rPr>
              <a:t>5/16</a:t>
            </a:r>
          </a:p>
        </p:txBody>
      </p:sp>
    </p:spTree>
    <p:extLst>
      <p:ext uri="{BB962C8B-B14F-4D97-AF65-F5344CB8AC3E}">
        <p14:creationId xmlns:p14="http://schemas.microsoft.com/office/powerpoint/2010/main" val="11866314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8805BB-5E5F-4DFF-AD5F-1EE2F0BF9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"/>
            <a:ext cx="11201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365D"/>
                </a:solidFill>
              </a:defRPr>
            </a:pPr>
            <a:r>
              <a:rPr sz="2850" b="1">
                <a:solidFill>
                  <a:srgbClr val="17365D"/>
                </a:solidFill>
              </a:rPr>
              <a:t>Un punto más de PTF habría elevado el crecimiento a 4,39%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0B4CD1-E669-423D-8844-45BA8E7F0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81050"/>
            <a:ext cx="166687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C400"/>
          </a:solidFill>
          <a:ln xmlns:a="http://schemas.openxmlformats.org/drawingml/2006/main" w="0">
            <a:solidFill>
              <a:srgbClr val="F2C40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45DD52-C457-43B8-AB2B-D24632A28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2175" y="781050"/>
            <a:ext cx="7239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EA8"/>
          </a:solidFill>
          <a:ln xmlns:a="http://schemas.openxmlformats.org/drawingml/2006/main" w="0">
            <a:solidFill>
              <a:srgbClr val="1F5EA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E761A7-FE0A-47A8-B53A-308287437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95350"/>
            <a:ext cx="11201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5EA8"/>
                </a:solidFill>
              </a:defRPr>
            </a:pPr>
            <a:r>
              <a:rPr sz="1650" b="1">
                <a:solidFill>
                  <a:srgbClr val="1F5EA8"/>
                </a:solidFill>
              </a:rPr>
              <a:t>El ejercicio mantiene constantes las contribuciones del trabajo y el capital.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08CB9F-06AA-44F1-820D-D4C2DCFCD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43125"/>
            <a:ext cx="2667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800" b="1">
                <a:solidFill>
                  <a:srgbClr val="4A4A4A"/>
                </a:solidFill>
              </a:defRPr>
            </a:pPr>
            <a:r>
              <a:rPr sz="4800" b="1">
                <a:solidFill>
                  <a:srgbClr val="4A4A4A"/>
                </a:solidFill>
              </a:rPr>
              <a:t>3,39%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81145F-9065-44F3-A808-F8D670126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4800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>
                <a:solidFill>
                  <a:srgbClr val="4A4A4A"/>
                </a:solidFill>
              </a:defRPr>
            </a:pPr>
            <a:r>
              <a:rPr sz="1650">
                <a:solidFill>
                  <a:srgbClr val="4A4A4A"/>
                </a:solidFill>
              </a:rPr>
              <a:t>Crecimiento observado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29146C-7317-4169-AD60-CE1F8B2CF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305050"/>
            <a:ext cx="857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1F5EA8"/>
                </a:solidFill>
              </a:defRPr>
            </a:pPr>
            <a:r>
              <a:rPr sz="4050" b="1">
                <a:solidFill>
                  <a:srgbClr val="1F5EA8"/>
                </a:solidFill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D2A00C-5150-4439-8B48-790F9C6B3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143125"/>
            <a:ext cx="285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200" b="1">
                <a:solidFill>
                  <a:srgbClr val="B07800"/>
                </a:solidFill>
              </a:defRPr>
            </a:pPr>
            <a:r>
              <a:rPr sz="4200" b="1">
                <a:solidFill>
                  <a:srgbClr val="B07800"/>
                </a:solidFill>
              </a:rPr>
              <a:t>+1,00 pp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38B676-AEC8-49DA-8D4A-1F87BC5C1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04800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>
                <a:solidFill>
                  <a:srgbClr val="4A4A4A"/>
                </a:solidFill>
              </a:defRPr>
            </a:pPr>
            <a:r>
              <a:rPr sz="1650">
                <a:solidFill>
                  <a:srgbClr val="4A4A4A"/>
                </a:solidFill>
              </a:rPr>
              <a:t>Crecimiento adicional de la PTF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649F7E-83D0-4551-BF32-564823DE4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305050"/>
            <a:ext cx="857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1F5EA8"/>
                </a:solidFill>
              </a:defRPr>
            </a:pPr>
            <a:r>
              <a:rPr sz="4050" b="1">
                <a:solidFill>
                  <a:srgbClr val="1F5EA8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C5B79E-8764-4226-B8B4-F7A4900BE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143125"/>
            <a:ext cx="2667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800" b="1">
                <a:solidFill>
                  <a:srgbClr val="17365D"/>
                </a:solidFill>
              </a:defRPr>
            </a:pPr>
            <a:r>
              <a:rPr sz="4800" b="1">
                <a:solidFill>
                  <a:srgbClr val="17365D"/>
                </a:solidFill>
              </a:rPr>
              <a:t>4,39%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6EBBED-4F72-4243-B466-25ECD0FEF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04800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>
                <a:solidFill>
                  <a:srgbClr val="4A4A4A"/>
                </a:solidFill>
              </a:defRPr>
            </a:pPr>
            <a:r>
              <a:rPr sz="1650">
                <a:solidFill>
                  <a:srgbClr val="4A4A4A"/>
                </a:solidFill>
              </a:rPr>
              <a:t>Crecimiento contrafactual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F230FB-B840-412E-A975-712825B7D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95750"/>
            <a:ext cx="914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solidFill>
              <a:srgbClr val="D9DEE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32A1D2-1CE0-40CC-88F5-0C1160BCC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524375"/>
            <a:ext cx="5524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200" b="1">
                <a:solidFill>
                  <a:srgbClr val="1F5EA8"/>
                </a:solidFill>
              </a:defRPr>
            </a:pPr>
            <a:r>
              <a:rPr sz="4200" b="1">
                <a:solidFill>
                  <a:srgbClr val="1F5EA8"/>
                </a:solidFill>
              </a:rPr>
              <a:t>23,4% más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0C1179-B533-481C-B32F-AE04FCC45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286375"/>
            <a:ext cx="609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>
                <a:solidFill>
                  <a:srgbClr val="4A4A4A"/>
                </a:solidFill>
              </a:defRPr>
            </a:pPr>
            <a:r>
              <a:rPr sz="1950">
                <a:solidFill>
                  <a:srgbClr val="4A4A4A"/>
                </a:solidFill>
              </a:rPr>
              <a:t>habría producido la economía en 2025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9288B6-6223-417D-87A0-C016274CD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53200"/>
            <a:ext cx="952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EA8"/>
          </a:solidFill>
          <a:ln xmlns:a="http://schemas.openxmlformats.org/drawingml/2006/main" w="0">
            <a:solidFill>
              <a:srgbClr val="1F5EA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95A175-6215-4D95-BD0D-D408AC67E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553200"/>
            <a:ext cx="2667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4A4A4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5F7736-74BB-424D-94DE-531631887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5913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</a:rPr>
              <a:t>Centro Javeriano de Competitividad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1E9FF5-ED57-4939-B5A4-0D13ACB95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91300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</a:rPr>
              <a:t>6/16</a:t>
            </a:r>
          </a:p>
        </p:txBody>
      </p:sp>
    </p:spTree>
    <p:extLst>
      <p:ext uri="{BB962C8B-B14F-4D97-AF65-F5344CB8AC3E}">
        <p14:creationId xmlns:p14="http://schemas.microsoft.com/office/powerpoint/2010/main" val="163393820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BA765F-C46D-40DE-A907-AA847303C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"/>
            <a:ext cx="11201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365D"/>
                </a:solidFill>
              </a:defRPr>
            </a:pPr>
            <a:r>
              <a:rPr sz="2850" b="1">
                <a:solidFill>
                  <a:srgbClr val="17365D"/>
                </a:solidFill>
              </a:rPr>
              <a:t>La PTF no evolucionó igual en todas las actividades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BEF7F8-D216-4298-A9BC-BF4B9BEFD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81050"/>
            <a:ext cx="166687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C400"/>
          </a:solidFill>
          <a:ln xmlns:a="http://schemas.openxmlformats.org/drawingml/2006/main" w="0">
            <a:solidFill>
              <a:srgbClr val="F2C40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60F36C-3C24-4C95-ABBF-CB81E7A6A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2175" y="781050"/>
            <a:ext cx="7239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EA8"/>
          </a:solidFill>
          <a:ln xmlns:a="http://schemas.openxmlformats.org/drawingml/2006/main" w="0">
            <a:solidFill>
              <a:srgbClr val="1F5EA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AE3E2A-F440-4104-9914-4B67AECCC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95350"/>
            <a:ext cx="11201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5EA8"/>
                </a:solidFill>
              </a:defRPr>
            </a:pPr>
            <a:r>
              <a:rPr sz="1650" b="1">
                <a:solidFill>
                  <a:srgbClr val="1F5EA8"/>
                </a:solidFill>
              </a:rPr>
              <a:t>El estancamiento agregado oculta trayectorias anuales muy distintas.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ae047020e84927"/>
          <a:stretch xmlns:a="http://schemas.openxmlformats.org/drawingml/2006/main"/>
        </p:blipFill>
        <p:spPr>
          <a:xfrm xmlns:a="http://schemas.openxmlformats.org/drawingml/2006/main">
            <a:off x="2054225" y="1257300"/>
            <a:ext cx="8083550" cy="51054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C386D1-540C-43B7-9EF1-4F3EF9EFE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53200"/>
            <a:ext cx="952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EA8"/>
          </a:solidFill>
          <a:ln xmlns:a="http://schemas.openxmlformats.org/drawingml/2006/main" w="0">
            <a:solidFill>
              <a:srgbClr val="1F5EA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6A45A7-BD60-4FA9-8DB7-95B6F9650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553200"/>
            <a:ext cx="2667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4A4A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A2DCB3-2CBB-453A-80BB-A08F996D8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5913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</a:rPr>
              <a:t>Centro Javeriano de Competitividad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744D1B-A5BD-45A6-A9F2-5CC79C281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91300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</a:rPr>
              <a:t>7/16</a:t>
            </a:r>
          </a:p>
        </p:txBody>
      </p:sp>
    </p:spTree>
    <p:extLst>
      <p:ext uri="{BB962C8B-B14F-4D97-AF65-F5344CB8AC3E}">
        <p14:creationId xmlns:p14="http://schemas.microsoft.com/office/powerpoint/2010/main" val="164470298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E52A9C-721A-4153-AA5E-C533AD900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"/>
            <a:ext cx="11201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365D"/>
                </a:solidFill>
              </a:defRPr>
            </a:pPr>
            <a:r>
              <a:rPr sz="2850" b="1">
                <a:solidFill>
                  <a:srgbClr val="17365D"/>
                </a:solidFill>
              </a:rPr>
              <a:t>Cuatro ramas avanzaron y cinco retrocedieron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EB7287-95CC-41E1-9FD5-CA92E7844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81050"/>
            <a:ext cx="166687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C400"/>
          </a:solidFill>
          <a:ln xmlns:a="http://schemas.openxmlformats.org/drawingml/2006/main" w="0">
            <a:solidFill>
              <a:srgbClr val="F2C40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2CDB4A-0B81-4EE9-82A7-714501235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2175" y="781050"/>
            <a:ext cx="7239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EA8"/>
          </a:solidFill>
          <a:ln xmlns:a="http://schemas.openxmlformats.org/drawingml/2006/main" w="0">
            <a:solidFill>
              <a:srgbClr val="1F5EA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C20910-C532-414B-99FA-FC575FF1A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95350"/>
            <a:ext cx="11201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5EA8"/>
                </a:solidFill>
              </a:defRPr>
            </a:pPr>
            <a:r>
              <a:rPr sz="1650" b="1">
                <a:solidFill>
                  <a:srgbClr val="1F5EA8"/>
                </a:solidFill>
              </a:rPr>
              <a:t>Comercio y hotelería acumuló +23,2%; minería, –32,1%.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aa11b155284075"/>
          <a:stretch xmlns:a="http://schemas.openxmlformats.org/drawingml/2006/main"/>
        </p:blipFill>
        <p:spPr>
          <a:xfrm xmlns:a="http://schemas.openxmlformats.org/drawingml/2006/main">
            <a:off x="2202051" y="1257300"/>
            <a:ext cx="7787898" cy="51054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8DAF5C-BC72-44E4-8B3B-372B3537A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53200"/>
            <a:ext cx="952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EA8"/>
          </a:solidFill>
          <a:ln xmlns:a="http://schemas.openxmlformats.org/drawingml/2006/main" w="0">
            <a:solidFill>
              <a:srgbClr val="1F5EA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ED58F4-9578-4DAD-8FFA-DAAFB1F49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553200"/>
            <a:ext cx="2667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4A4A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5E2FF9-B198-49A6-8CFB-0D9A1DF06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5913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</a:rPr>
              <a:t>Centro Javeriano de Competitividad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BBA673-059D-4093-9605-214C15487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91300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</a:rPr>
              <a:t>8/16</a:t>
            </a:r>
          </a:p>
        </p:txBody>
      </p:sp>
    </p:spTree>
    <p:extLst>
      <p:ext uri="{BB962C8B-B14F-4D97-AF65-F5344CB8AC3E}">
        <p14:creationId xmlns:p14="http://schemas.microsoft.com/office/powerpoint/2010/main" val="118566721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532DE7-C6F0-4196-9CF7-6A11790B1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"/>
            <a:ext cx="11201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365D"/>
                </a:solidFill>
              </a:defRPr>
            </a:pPr>
            <a:r>
              <a:rPr sz="2850" b="1">
                <a:solidFill>
                  <a:srgbClr val="17365D"/>
                </a:solidFill>
              </a:rPr>
              <a:t>El efecto agregado depende del crecimiento y del peso de cada rama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ED4FBA-730F-4338-87BC-06A8D5804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81050"/>
            <a:ext cx="166687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C400"/>
          </a:solidFill>
          <a:ln xmlns:a="http://schemas.openxmlformats.org/drawingml/2006/main" w="0">
            <a:solidFill>
              <a:srgbClr val="F2C40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CE05DA-96AF-421E-9E01-F9B656748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2175" y="781050"/>
            <a:ext cx="7239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EA8"/>
          </a:solidFill>
          <a:ln xmlns:a="http://schemas.openxmlformats.org/drawingml/2006/main" w="0">
            <a:solidFill>
              <a:srgbClr val="1F5EA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F60694-EF70-4DC7-9DEF-1DEEF3206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95350"/>
            <a:ext cx="11201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5EA8"/>
                </a:solidFill>
              </a:defRPr>
            </a:pPr>
            <a:r>
              <a:rPr sz="1650" b="1">
                <a:solidFill>
                  <a:srgbClr val="1F5EA8"/>
                </a:solidFill>
              </a:rPr>
              <a:t>Resultados de largo plazo bajo el enfoque de producción, 2005–2024.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571500" y="1409700"/>
          <a:ext xmlns:a="http://schemas.openxmlformats.org/drawingml/2006/main" cx="11049000" cy="4810125"/>
        </p:xfrm>
        <a:graphic xmlns:a="http://schemas.openxmlformats.org/drawingml/2006/main">
          <a:graphicData uri="http://schemas.openxmlformats.org/drawingml/2006/table">
            <a:tbl>
              <a:tblPr firstRow="1" lastRow="1" bandRow="1"/>
              <a:tblGrid>
                <a:gridCol w="3810000"/>
                <a:gridCol w="1809750"/>
                <a:gridCol w="1809750"/>
                <a:gridCol w="1809750"/>
                <a:gridCol w="1809750"/>
              </a:tblGrid>
              <a:tr h="43728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7365D"/>
                          </a:solidFill>
                        </a:rPr>
                        <a:t>Actividad</a:t>
                      </a:r>
                    </a:p>
                  </a:txBody>
                  <a:tcPr marL="76200" marR="76200" marT="57150" marB="57150">
                    <a:solidFill>
                      <a:srgbClr val="DCE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7365D"/>
                          </a:solidFill>
                        </a:rPr>
                        <a:t>Peso promedio</a:t>
                      </a:r>
                    </a:p>
                  </a:txBody>
                  <a:tcPr marL="76200" marR="76200" marT="57150" marB="57150">
                    <a:solidFill>
                      <a:srgbClr val="DCE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7365D"/>
                          </a:solidFill>
                        </a:rPr>
                        <a:t>PTF acumulada</a:t>
                      </a:r>
                    </a:p>
                  </a:txBody>
                  <a:tcPr marL="76200" marR="76200" marT="57150" marB="57150">
                    <a:solidFill>
                      <a:srgbClr val="DCE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7365D"/>
                          </a:solidFill>
                        </a:rPr>
                        <a:t>PTF anualizada</a:t>
                      </a:r>
                    </a:p>
                  </a:txBody>
                  <a:tcPr marL="76200" marR="76200" marT="57150" marB="57150">
                    <a:solidFill>
                      <a:srgbClr val="DCE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7365D"/>
                          </a:solidFill>
                        </a:rPr>
                        <a:t>Contribución anual</a:t>
                      </a:r>
                    </a:p>
                  </a:txBody>
                  <a:tcPr marL="76200" marR="76200" marT="57150" marB="57150">
                    <a:solidFill>
                      <a:srgbClr val="DCE8F5"/>
                    </a:solidFill>
                  </a:tcPr>
                </a:tc>
              </a:tr>
              <a:tr h="43728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Comercio y hotelería</a:t>
                      </a:r>
                    </a:p>
                  </a:txBody>
                  <a:tcPr marL="76200" marR="76200" marT="47625" marB="47625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12,98%</a:t>
                      </a:r>
                    </a:p>
                  </a:txBody>
                  <a:tcPr marL="76200" marR="76200" marT="47625" marB="47625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4F81BD"/>
                          </a:solidFill>
                        </a:rPr>
                        <a:t>23,17%</a:t>
                      </a:r>
                    </a:p>
                  </a:txBody>
                  <a:tcPr marL="76200" marR="76200" marT="47625" marB="47625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4F81BD"/>
                          </a:solidFill>
                        </a:rPr>
                        <a:t>1,04%</a:t>
                      </a:r>
                    </a:p>
                  </a:txBody>
                  <a:tcPr marL="76200" marR="76200" marT="47625" marB="47625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4F81BD"/>
                          </a:solidFill>
                        </a:rPr>
                        <a:t>0,13 pp</a:t>
                      </a:r>
                    </a:p>
                  </a:txBody>
                  <a:tcPr marL="76200" marR="76200" marT="47625" marB="47625"/>
                </a:tc>
              </a:tr>
              <a:tr h="43728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Agropecuario</a:t>
                      </a:r>
                    </a:p>
                  </a:txBody>
                  <a:tcPr marL="76200" marR="76200" marT="47625" marB="47625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6,11%</a:t>
                      </a:r>
                    </a:p>
                  </a:txBody>
                  <a:tcPr marL="76200" marR="76200" marT="47625" marB="47625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4F81BD"/>
                          </a:solidFill>
                        </a:rPr>
                        <a:t>21,84%</a:t>
                      </a:r>
                    </a:p>
                  </a:txBody>
                  <a:tcPr marL="76200" marR="76200" marT="47625" marB="47625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4F81BD"/>
                          </a:solidFill>
                        </a:rPr>
                        <a:t>0,99%</a:t>
                      </a:r>
                    </a:p>
                  </a:txBody>
                  <a:tcPr marL="76200" marR="76200" marT="47625" marB="47625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4F81BD"/>
                          </a:solidFill>
                        </a:rPr>
                        <a:t>0,06 pp</a:t>
                      </a:r>
                    </a:p>
                  </a:txBody>
                  <a:tcPr marL="76200" marR="76200" marT="47625" marB="47625"/>
                </a:tc>
              </a:tr>
              <a:tr h="43728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Servicios sociales y personales</a:t>
                      </a:r>
                    </a:p>
                  </a:txBody>
                  <a:tcPr marL="76200" marR="76200" marT="47625" marB="47625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16,05%</a:t>
                      </a:r>
                    </a:p>
                  </a:txBody>
                  <a:tcPr marL="76200" marR="76200" marT="47625" marB="47625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4F81BD"/>
                          </a:solidFill>
                        </a:rPr>
                        <a:t>14,16%</a:t>
                      </a:r>
                    </a:p>
                  </a:txBody>
                  <a:tcPr marL="76200" marR="76200" marT="47625" marB="47625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4F81BD"/>
                          </a:solidFill>
                        </a:rPr>
                        <a:t>0,66%</a:t>
                      </a:r>
                    </a:p>
                  </a:txBody>
                  <a:tcPr marL="76200" marR="76200" marT="47625" marB="47625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4F81BD"/>
                          </a:solidFill>
                        </a:rPr>
                        <a:t>0,11 pp</a:t>
                      </a:r>
                    </a:p>
                  </a:txBody>
                  <a:tcPr marL="76200" marR="76200" marT="47625" marB="47625"/>
                </a:tc>
              </a:tr>
              <a:tr h="43728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Transporte y comunicaciones</a:t>
                      </a:r>
                    </a:p>
                  </a:txBody>
                  <a:tcPr marL="76200" marR="76200" marT="47625" marB="47625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8,63%</a:t>
                      </a:r>
                    </a:p>
                  </a:txBody>
                  <a:tcPr marL="76200" marR="76200" marT="47625" marB="47625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4F81BD"/>
                          </a:solidFill>
                        </a:rPr>
                        <a:t>4,26%</a:t>
                      </a:r>
                    </a:p>
                  </a:txBody>
                  <a:tcPr marL="76200" marR="76200" marT="47625" marB="47625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4F81BD"/>
                          </a:solidFill>
                        </a:rPr>
                        <a:t>0,21%</a:t>
                      </a:r>
                    </a:p>
                  </a:txBody>
                  <a:tcPr marL="76200" marR="76200" marT="47625" marB="47625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4F81BD"/>
                          </a:solidFill>
                        </a:rPr>
                        <a:t>0,02 pp</a:t>
                      </a:r>
                    </a:p>
                  </a:txBody>
                  <a:tcPr marL="76200" marR="76200" marT="47625" marB="47625"/>
                </a:tc>
              </a:tr>
              <a:tr h="43728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Manufactura</a:t>
                      </a:r>
                    </a:p>
                  </a:txBody>
                  <a:tcPr marL="76200" marR="76200" marT="47625" marB="47625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23,43%</a:t>
                      </a:r>
                    </a:p>
                  </a:txBody>
                  <a:tcPr marL="76200" marR="76200" marT="47625" marB="47625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C44E52"/>
                          </a:solidFill>
                        </a:rPr>
                        <a:t>–5,15%</a:t>
                      </a:r>
                    </a:p>
                  </a:txBody>
                  <a:tcPr marL="76200" marR="76200" marT="47625" marB="47625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C44E52"/>
                          </a:solidFill>
                        </a:rPr>
                        <a:t>–0,26%</a:t>
                      </a:r>
                    </a:p>
                  </a:txBody>
                  <a:tcPr marL="76200" marR="76200" marT="47625" marB="47625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C44E52"/>
                          </a:solidFill>
                        </a:rPr>
                        <a:t>–0,06 pp</a:t>
                      </a:r>
                    </a:p>
                  </a:txBody>
                  <a:tcPr marL="76200" marR="76200" marT="47625" marB="47625"/>
                </a:tc>
              </a:tr>
              <a:tr h="43728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Servicios públicos</a:t>
                      </a:r>
                    </a:p>
                  </a:txBody>
                  <a:tcPr marL="76200" marR="76200" marT="47625" marB="47625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3,42%</a:t>
                      </a:r>
                    </a:p>
                  </a:txBody>
                  <a:tcPr marL="76200" marR="76200" marT="47625" marB="47625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C44E52"/>
                          </a:solidFill>
                        </a:rPr>
                        <a:t>–5,53%</a:t>
                      </a:r>
                    </a:p>
                  </a:txBody>
                  <a:tcPr marL="76200" marR="76200" marT="47625" marB="47625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C44E52"/>
                          </a:solidFill>
                        </a:rPr>
                        <a:t>–0,28%</a:t>
                      </a:r>
                    </a:p>
                  </a:txBody>
                  <a:tcPr marL="76200" marR="76200" marT="47625" marB="47625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C44E52"/>
                          </a:solidFill>
                        </a:rPr>
                        <a:t>–0,01 pp</a:t>
                      </a:r>
                    </a:p>
                  </a:txBody>
                  <a:tcPr marL="76200" marR="76200" marT="47625" marB="47625"/>
                </a:tc>
              </a:tr>
              <a:tr h="43728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Construcción</a:t>
                      </a:r>
                    </a:p>
                  </a:txBody>
                  <a:tcPr marL="76200" marR="76200" marT="47625" marB="47625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8,64%</a:t>
                      </a:r>
                    </a:p>
                  </a:txBody>
                  <a:tcPr marL="76200" marR="76200" marT="47625" marB="47625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C44E52"/>
                          </a:solidFill>
                        </a:rPr>
                        <a:t>–11,06%</a:t>
                      </a:r>
                    </a:p>
                  </a:txBody>
                  <a:tcPr marL="76200" marR="76200" marT="47625" marB="47625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C44E52"/>
                          </a:solidFill>
                        </a:rPr>
                        <a:t>–0,59%</a:t>
                      </a:r>
                    </a:p>
                  </a:txBody>
                  <a:tcPr marL="76200" marR="76200" marT="47625" marB="47625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C44E52"/>
                          </a:solidFill>
                        </a:rPr>
                        <a:t>–0,05 pp</a:t>
                      </a:r>
                    </a:p>
                  </a:txBody>
                  <a:tcPr marL="76200" marR="76200" marT="47625" marB="47625"/>
                </a:tc>
              </a:tr>
              <a:tr h="43728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Financieras</a:t>
                      </a:r>
                    </a:p>
                  </a:txBody>
                  <a:tcPr marL="76200" marR="76200" marT="47625" marB="47625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14,66%</a:t>
                      </a:r>
                    </a:p>
                  </a:txBody>
                  <a:tcPr marL="76200" marR="76200" marT="47625" marB="47625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C44E52"/>
                          </a:solidFill>
                        </a:rPr>
                        <a:t>–19,01%</a:t>
                      </a:r>
                    </a:p>
                  </a:txBody>
                  <a:tcPr marL="76200" marR="76200" marT="47625" marB="47625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C44E52"/>
                          </a:solidFill>
                        </a:rPr>
                        <a:t>–1,05%</a:t>
                      </a:r>
                    </a:p>
                  </a:txBody>
                  <a:tcPr marL="76200" marR="76200" marT="47625" marB="47625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C44E52"/>
                          </a:solidFill>
                        </a:rPr>
                        <a:t>–0,15 pp</a:t>
                      </a:r>
                    </a:p>
                  </a:txBody>
                  <a:tcPr marL="76200" marR="76200" marT="47625" marB="47625"/>
                </a:tc>
              </a:tr>
              <a:tr h="43728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Minería</a:t>
                      </a:r>
                    </a:p>
                  </a:txBody>
                  <a:tcPr marL="76200" marR="76200" marT="47625" marB="47625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6,08%</a:t>
                      </a:r>
                    </a:p>
                  </a:txBody>
                  <a:tcPr marL="76200" marR="76200" marT="47625" marB="47625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C44E52"/>
                          </a:solidFill>
                        </a:rPr>
                        <a:t>–32,09%</a:t>
                      </a:r>
                    </a:p>
                  </a:txBody>
                  <a:tcPr marL="76200" marR="76200" marT="47625" marB="47625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C44E52"/>
                          </a:solidFill>
                        </a:rPr>
                        <a:t>–1,93%</a:t>
                      </a:r>
                    </a:p>
                  </a:txBody>
                  <a:tcPr marL="76200" marR="76200" marT="47625" marB="47625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C44E52"/>
                          </a:solidFill>
                        </a:rPr>
                        <a:t>–0,11 pp</a:t>
                      </a:r>
                    </a:p>
                  </a:txBody>
                  <a:tcPr marL="76200" marR="76200" marT="47625" marB="47625"/>
                </a:tc>
              </a:tr>
              <a:tr h="43728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7365D"/>
                          </a:solidFill>
                        </a:rPr>
                        <a:t>Total de la economía</a:t>
                      </a:r>
                    </a:p>
                  </a:txBody>
                  <a:tcPr marL="76200" marR="76200" marT="47625" marB="47625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7365D"/>
                          </a:solidFill>
                        </a:rPr>
                        <a:t>100,00%</a:t>
                      </a:r>
                    </a:p>
                  </a:txBody>
                  <a:tcPr marL="76200" marR="76200" marT="47625" marB="47625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7365D"/>
                          </a:solidFill>
                        </a:rPr>
                        <a:t>–1,45%</a:t>
                      </a:r>
                    </a:p>
                  </a:txBody>
                  <a:tcPr marL="76200" marR="76200" marT="47625" marB="47625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7365D"/>
                          </a:solidFill>
                        </a:rPr>
                        <a:t>–0,07%</a:t>
                      </a:r>
                    </a:p>
                  </a:txBody>
                  <a:tcPr marL="76200" marR="76200" marT="47625" marB="47625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7365D"/>
                          </a:solidFill>
                        </a:rPr>
                        <a:t>–0,07 pp</a:t>
                      </a:r>
                    </a:p>
                  </a:txBody>
                  <a:tcPr marL="76200" marR="76200" marT="47625" marB="47625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D4E590-09D1-4C00-8D72-1AD199E83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53200"/>
            <a:ext cx="952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EA8"/>
          </a:solidFill>
          <a:ln xmlns:a="http://schemas.openxmlformats.org/drawingml/2006/main" w="0">
            <a:solidFill>
              <a:srgbClr val="1F5EA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80AFC1-58D7-4661-99D7-79AB4CC10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553200"/>
            <a:ext cx="2667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4A4A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CD9D06-0CBB-4DF1-802D-48E9FCD87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5913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</a:rPr>
              <a:t>Centro Javeriano de Competitividad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BDF3BC-5FAF-4A35-A10D-7F8779984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91300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</a:rPr>
              <a:t>9/16</a:t>
            </a:r>
          </a:p>
        </p:txBody>
      </p:sp>
    </p:spTree>
    <p:extLst>
      <p:ext uri="{BB962C8B-B14F-4D97-AF65-F5344CB8AC3E}">
        <p14:creationId xmlns:p14="http://schemas.microsoft.com/office/powerpoint/2010/main" val="156459877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780331-37A0-4C4F-948E-0DBCA484B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"/>
            <a:ext cx="11201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365D"/>
                </a:solidFill>
              </a:defRPr>
            </a:pPr>
            <a:r>
              <a:rPr sz="2850" b="1">
                <a:solidFill>
                  <a:srgbClr val="17365D"/>
                </a:solidFill>
              </a:rPr>
              <a:t>Las contribuciones positivas y negativas casi se compensaron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62DC5D-B973-4E58-9556-C83A71341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81050"/>
            <a:ext cx="166687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C400"/>
          </a:solidFill>
          <a:ln xmlns:a="http://schemas.openxmlformats.org/drawingml/2006/main" w="0">
            <a:solidFill>
              <a:srgbClr val="F2C40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CF4B03-85AF-411F-96AC-CE7267164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2175" y="781050"/>
            <a:ext cx="7239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EA8"/>
          </a:solidFill>
          <a:ln xmlns:a="http://schemas.openxmlformats.org/drawingml/2006/main" w="0">
            <a:solidFill>
              <a:srgbClr val="1F5EA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46FC65-8802-46D5-BDA0-EE41B7354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95350"/>
            <a:ext cx="11201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5EA8"/>
                </a:solidFill>
              </a:defRPr>
            </a:pPr>
            <a:r>
              <a:rPr sz="1650" b="1">
                <a:solidFill>
                  <a:srgbClr val="1F5EA8"/>
                </a:solidFill>
              </a:rPr>
              <a:t>Cuatro ramas sumaron +0,32 pp por año; cinco restaron –0,39 pp.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7e81ff198045f6"/>
          <a:stretch xmlns:a="http://schemas.openxmlformats.org/drawingml/2006/main"/>
        </p:blipFill>
        <p:spPr>
          <a:xfrm xmlns:a="http://schemas.openxmlformats.org/drawingml/2006/main">
            <a:off x="1993446" y="1257300"/>
            <a:ext cx="8205107" cy="51054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EA4A06-6AE6-461A-B351-AA9A306EB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53200"/>
            <a:ext cx="952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EA8"/>
          </a:solidFill>
          <a:ln xmlns:a="http://schemas.openxmlformats.org/drawingml/2006/main" w="0">
            <a:solidFill>
              <a:srgbClr val="1F5EA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F2D1E3-6C0F-4265-999D-5849F3125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553200"/>
            <a:ext cx="2667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4A4A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2BDCDD-00E0-4248-95AB-9D5300179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5913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</a:rPr>
              <a:t>Centro Javeriano de Competitividad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FDF60D-931C-4BE4-BA2D-AC465BD35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91300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</a:rPr>
              <a:t>10/16</a:t>
            </a:r>
          </a:p>
        </p:txBody>
      </p:sp>
    </p:spTree>
    <p:extLst>
      <p:ext uri="{BB962C8B-B14F-4D97-AF65-F5344CB8AC3E}">
        <p14:creationId xmlns:p14="http://schemas.microsoft.com/office/powerpoint/2010/main" val="14505347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D33A1E-6E3A-4D04-991B-B327FB7C2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"/>
            <a:ext cx="11201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365D"/>
                </a:solidFill>
              </a:defRPr>
            </a:pPr>
            <a:r>
              <a:rPr sz="2850" b="1">
                <a:solidFill>
                  <a:srgbClr val="17365D"/>
                </a:solidFill>
              </a:rPr>
              <a:t>El signo de las contribuciones cambió entre subperiodos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654AE2-4B7D-43F1-B5DB-DBD3E1393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81050"/>
            <a:ext cx="166687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C400"/>
          </a:solidFill>
          <a:ln xmlns:a="http://schemas.openxmlformats.org/drawingml/2006/main" w="0">
            <a:solidFill>
              <a:srgbClr val="F2C40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60B626-4956-4AA5-89B4-2F5C7F5AC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2175" y="781050"/>
            <a:ext cx="7239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EA8"/>
          </a:solidFill>
          <a:ln xmlns:a="http://schemas.openxmlformats.org/drawingml/2006/main" w="0">
            <a:solidFill>
              <a:srgbClr val="1F5EA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77BA56-DDB8-45DD-A328-82FEAFBBD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95350"/>
            <a:ext cx="11201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5EA8"/>
                </a:solidFill>
              </a:defRPr>
            </a:pPr>
            <a:r>
              <a:rPr sz="1650" b="1">
                <a:solidFill>
                  <a:srgbClr val="1F5EA8"/>
                </a:solidFill>
              </a:rPr>
              <a:t>Los avances y retrocesos no fueron permanentes ni comunes a todas las ramas.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3e9111b7ef4d87"/>
          <a:stretch xmlns:a="http://schemas.openxmlformats.org/drawingml/2006/main"/>
        </p:blipFill>
        <p:spPr>
          <a:xfrm xmlns:a="http://schemas.openxmlformats.org/drawingml/2006/main">
            <a:off x="1993446" y="1257300"/>
            <a:ext cx="8205107" cy="51054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E1A3C8-75C3-4425-9C01-B3C5A67A1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53200"/>
            <a:ext cx="952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EA8"/>
          </a:solidFill>
          <a:ln xmlns:a="http://schemas.openxmlformats.org/drawingml/2006/main" w="0">
            <a:solidFill>
              <a:srgbClr val="1F5EA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F75E4F-B732-4145-9F31-57D60A884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553200"/>
            <a:ext cx="2667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4A4A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EBBFB8-2E5D-4B2E-80D1-7208809DE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5913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</a:rPr>
              <a:t>Centro Javeriano de Competitividad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4DB3B9-4591-40D1-A77C-BC0618219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91300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</a:rPr>
              <a:t>11/16</a:t>
            </a:r>
          </a:p>
        </p:txBody>
      </p:sp>
    </p:spTree>
    <p:extLst>
      <p:ext uri="{BB962C8B-B14F-4D97-AF65-F5344CB8AC3E}">
        <p14:creationId xmlns:p14="http://schemas.microsoft.com/office/powerpoint/2010/main" val="141961472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01297F-9BDC-4C50-8BC0-7A03194BB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"/>
            <a:ext cx="11201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365D"/>
                </a:solidFill>
              </a:defRPr>
            </a:pPr>
            <a:r>
              <a:rPr sz="2850" b="1">
                <a:solidFill>
                  <a:srgbClr val="17365D"/>
                </a:solidFill>
              </a:rPr>
              <a:t>Todas las ramas aumentaron su producción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B0B991-8912-4656-8633-F7BAD30BD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81050"/>
            <a:ext cx="166687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C400"/>
          </a:solidFill>
          <a:ln xmlns:a="http://schemas.openxmlformats.org/drawingml/2006/main" w="0">
            <a:solidFill>
              <a:srgbClr val="F2C40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7A1190-91AE-4E5B-B09F-BAFC0FFF7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2175" y="781050"/>
            <a:ext cx="7239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EA8"/>
          </a:solidFill>
          <a:ln xmlns:a="http://schemas.openxmlformats.org/drawingml/2006/main" w="0">
            <a:solidFill>
              <a:srgbClr val="1F5EA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CD8093-C5B8-43FA-82B3-D53FBE33E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95350"/>
            <a:ext cx="11201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5EA8"/>
                </a:solidFill>
              </a:defRPr>
            </a:pPr>
            <a:r>
              <a:rPr sz="1650" b="1">
                <a:solidFill>
                  <a:srgbClr val="1F5EA8"/>
                </a:solidFill>
              </a:rPr>
              <a:t>La acumulación de factores sostuvo el crecimiento, aunque la PTF cayó en cinco ramas.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5afd973789458f"/>
          <a:stretch xmlns:a="http://schemas.openxmlformats.org/drawingml/2006/main"/>
        </p:blipFill>
        <p:spPr>
          <a:xfrm xmlns:a="http://schemas.openxmlformats.org/drawingml/2006/main">
            <a:off x="1993446" y="1257300"/>
            <a:ext cx="8205107" cy="51054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3C33FB-5383-4458-857A-4F5D32354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53200"/>
            <a:ext cx="952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EA8"/>
          </a:solidFill>
          <a:ln xmlns:a="http://schemas.openxmlformats.org/drawingml/2006/main" w="0">
            <a:solidFill>
              <a:srgbClr val="1F5EA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9D33B4-2D9C-4BB6-B5CB-CB74C1024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553200"/>
            <a:ext cx="2667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4A4A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8F0C2B-4AE9-41B6-B2DC-789C21AD0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5913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</a:rPr>
              <a:t>Centro Javeriano de Competitividad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B682B9-C239-4874-800F-474ACF8C1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91300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</a:rPr>
              <a:t>12/16</a:t>
            </a:r>
          </a:p>
        </p:txBody>
      </p:sp>
    </p:spTree>
    <p:extLst>
      <p:ext uri="{BB962C8B-B14F-4D97-AF65-F5344CB8AC3E}">
        <p14:creationId xmlns:p14="http://schemas.microsoft.com/office/powerpoint/2010/main" val="643039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3ABF15-FDBE-4ABD-A023-2C7D4E18F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"/>
            <a:ext cx="11201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365D"/>
                </a:solidFill>
              </a:defRPr>
            </a:pPr>
            <a:r>
              <a:rPr sz="2850" b="1">
                <a:solidFill>
                  <a:srgbClr val="17365D"/>
                </a:solidFill>
              </a:rPr>
              <a:t>Cinco caídas de PTF borraron las ganancias de cuatro ramas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7758E6-4234-4C7F-B756-516EE0787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81050"/>
            <a:ext cx="166687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C400"/>
          </a:solidFill>
          <a:ln xmlns:a="http://schemas.openxmlformats.org/drawingml/2006/main" w="0">
            <a:solidFill>
              <a:srgbClr val="F2C40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EE2EA2-7262-415A-B003-E14D1EC8D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2175" y="781050"/>
            <a:ext cx="7239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EA8"/>
          </a:solidFill>
          <a:ln xmlns:a="http://schemas.openxmlformats.org/drawingml/2006/main" w="0">
            <a:solidFill>
              <a:srgbClr val="1F5EA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44F155-49AA-4682-97C4-ADD9D9C1B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95350"/>
            <a:ext cx="11201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5EA8"/>
                </a:solidFill>
              </a:defRPr>
            </a:pPr>
            <a:r>
              <a:rPr sz="1650" b="1">
                <a:solidFill>
                  <a:srgbClr val="1F5EA8"/>
                </a:solidFill>
              </a:rPr>
              <a:t>Sin las contribuciones negativas, la economía habría crecido 3,65% anual.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87331c9a444639"/>
          <a:stretch xmlns:a="http://schemas.openxmlformats.org/drawingml/2006/main"/>
        </p:blipFill>
        <p:spPr>
          <a:xfrm xmlns:a="http://schemas.openxmlformats.org/drawingml/2006/main">
            <a:off x="1993446" y="1257300"/>
            <a:ext cx="8205107" cy="51054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15A387-9CC0-4EB8-8BE9-4A8453672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53200"/>
            <a:ext cx="952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EA8"/>
          </a:solidFill>
          <a:ln xmlns:a="http://schemas.openxmlformats.org/drawingml/2006/main" w="0">
            <a:solidFill>
              <a:srgbClr val="1F5EA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8689E1-BEDC-48A2-A4C1-C709C5231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553200"/>
            <a:ext cx="2667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4A4A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552E37-39C4-4F44-A230-F60611153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5913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</a:rPr>
              <a:t>Centro Javeriano de Competitividad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61855D-E228-42DB-9BA8-128BD701C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91300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</a:rPr>
              <a:t>13/16</a:t>
            </a:r>
          </a:p>
        </p:txBody>
      </p:sp>
    </p:spTree>
    <p:extLst>
      <p:ext uri="{BB962C8B-B14F-4D97-AF65-F5344CB8AC3E}">
        <p14:creationId xmlns:p14="http://schemas.microsoft.com/office/powerpoint/2010/main" val="89879545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AC5F25-511A-4D81-B5E3-427C7D2E5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"/>
            <a:ext cx="11201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365D"/>
                </a:solidFill>
              </a:defRPr>
            </a:pPr>
            <a:r>
              <a:rPr sz="2850" b="1">
                <a:solidFill>
                  <a:srgbClr val="17365D"/>
                </a:solidFill>
              </a:rPr>
              <a:t>La política de productividad debe empezar por cuatro actividades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21244B-727B-47CE-A7D2-C1240927B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81050"/>
            <a:ext cx="166687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C400"/>
          </a:solidFill>
          <a:ln xmlns:a="http://schemas.openxmlformats.org/drawingml/2006/main" w="0">
            <a:solidFill>
              <a:srgbClr val="F2C40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36B993-FE7E-4867-A367-8D08DAB8F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2175" y="781050"/>
            <a:ext cx="7239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EA8"/>
          </a:solidFill>
          <a:ln xmlns:a="http://schemas.openxmlformats.org/drawingml/2006/main" w="0">
            <a:solidFill>
              <a:srgbClr val="1F5EA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2799E6-01FA-4550-8EF3-AC0BE83AE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95350"/>
            <a:ext cx="11201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5EA8"/>
                </a:solidFill>
              </a:defRPr>
            </a:pPr>
            <a:r>
              <a:rPr sz="1650" b="1">
                <a:solidFill>
                  <a:srgbClr val="1F5EA8"/>
                </a:solidFill>
              </a:rPr>
              <a:t>Financieras, minería, manufactura y construcción fueron las que más redujeron el crecimiento.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8FDD85-DC16-4178-81CE-EB3F6F4C8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14500"/>
            <a:ext cx="2571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3450" b="1">
                <a:solidFill>
                  <a:srgbClr val="C44E52"/>
                </a:solidFill>
              </a:defRPr>
            </a:pPr>
            <a:r>
              <a:rPr sz="3450" b="1">
                <a:solidFill>
                  <a:srgbClr val="C44E52"/>
                </a:solidFill>
              </a:rPr>
              <a:t>–0,38 pp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243339-F0C8-44A4-9AB3-76D6DEDB6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1733550"/>
            <a:ext cx="685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222222"/>
                </a:solidFill>
              </a:defRPr>
            </a:pPr>
            <a:r>
              <a:rPr sz="1875">
                <a:solidFill>
                  <a:srgbClr val="222222"/>
                </a:solidFill>
              </a:rPr>
              <a:t>por año restaron conjuntamente al crecimiento de la economía.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2421BD-6C71-48A1-B95C-684B5D9CC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667000"/>
            <a:ext cx="685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solidFill>
              <a:srgbClr val="D9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105202-CA3A-4503-BA3E-ACE9335FC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95625"/>
            <a:ext cx="2571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3450" b="1">
                <a:solidFill>
                  <a:srgbClr val="4F81BD"/>
                </a:solidFill>
              </a:defRPr>
            </a:pPr>
            <a:r>
              <a:rPr sz="3450" b="1">
                <a:solidFill>
                  <a:srgbClr val="4F81BD"/>
                </a:solidFill>
              </a:rPr>
              <a:t>+0,30 pp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AD104A-1562-471E-9912-33587F3F6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114675"/>
            <a:ext cx="685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222222"/>
                </a:solidFill>
              </a:defRPr>
            </a:pPr>
            <a:r>
              <a:rPr sz="1875">
                <a:solidFill>
                  <a:srgbClr val="222222"/>
                </a:solidFill>
              </a:rPr>
              <a:t>por año aportaron comercio y hotelería, agropecuario y servicios sociales y personales.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46DF4D-71DF-4F8C-BA96-908BC236E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048125"/>
            <a:ext cx="685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solidFill>
              <a:srgbClr val="D9DEE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44BD4F-B772-4A54-A8EE-D036AC2C2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76750"/>
            <a:ext cx="2571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2400" b="1">
                <a:solidFill>
                  <a:srgbClr val="17365D"/>
                </a:solidFill>
              </a:defRPr>
            </a:pPr>
            <a:r>
              <a:rPr sz="2400" b="1">
                <a:solidFill>
                  <a:srgbClr val="17365D"/>
                </a:solidFill>
              </a:rPr>
              <a:t>Pregunta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648CCC-9476-403B-B8F3-D62B99696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495800"/>
            <a:ext cx="685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222222"/>
                </a:solidFill>
              </a:defRPr>
            </a:pPr>
            <a:r>
              <a:rPr sz="1875">
                <a:solidFill>
                  <a:srgbClr val="222222"/>
                </a:solidFill>
              </a:rPr>
              <a:t>¿Qué obstáculos explican la caída de la PTF en las cuatro actividades que más restaron?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898AE1-8AD0-47E8-A720-8030CDDD3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429250"/>
            <a:ext cx="685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solidFill>
              <a:srgbClr val="D9DEE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C155E0-B8B7-467B-8C03-D25C5B29F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53200"/>
            <a:ext cx="952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EA8"/>
          </a:solidFill>
          <a:ln xmlns:a="http://schemas.openxmlformats.org/drawingml/2006/main" w="0">
            <a:solidFill>
              <a:srgbClr val="1F5EA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10356E-8DD1-4FE3-9EB6-1A31DDE8A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553200"/>
            <a:ext cx="2667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4A4A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FCC247-B91C-40DD-9D97-CB38AB51B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5913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</a:rPr>
              <a:t>Centro Javeriano de Competitividad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082781-A3D6-41AC-AB32-930802FD9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91300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</a:rPr>
              <a:t>14/16</a:t>
            </a:r>
          </a:p>
        </p:txBody>
      </p:sp>
    </p:spTree>
    <p:extLst>
      <p:ext uri="{BB962C8B-B14F-4D97-AF65-F5344CB8AC3E}">
        <p14:creationId xmlns:p14="http://schemas.microsoft.com/office/powerpoint/2010/main" val="77695493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A90EE3-10CC-4416-B423-551DD107C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"/>
            <a:ext cx="11201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365D"/>
                </a:solidFill>
              </a:defRPr>
            </a:pPr>
            <a:r>
              <a:rPr sz="2850" b="1">
                <a:solidFill>
                  <a:srgbClr val="17365D"/>
                </a:solidFill>
              </a:rPr>
              <a:t>Apéndice: qué incluye cada rama de actividad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7C5438-27FA-42F1-A12B-E264C6912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81050"/>
            <a:ext cx="166687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C400"/>
          </a:solidFill>
          <a:ln xmlns:a="http://schemas.openxmlformats.org/drawingml/2006/main" w="0">
            <a:solidFill>
              <a:srgbClr val="F2C40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EAC4E1-B18E-4C5B-A226-DF390DF66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2175" y="781050"/>
            <a:ext cx="7239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EA8"/>
          </a:solidFill>
          <a:ln xmlns:a="http://schemas.openxmlformats.org/drawingml/2006/main" w="0">
            <a:solidFill>
              <a:srgbClr val="1F5EA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AA07DF-6C5B-42CD-887C-F9BE75C22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95350"/>
            <a:ext cx="11201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5EA8"/>
                </a:solidFill>
              </a:defRPr>
            </a:pPr>
            <a:r>
              <a:rPr sz="1650" b="1">
                <a:solidFill>
                  <a:srgbClr val="1F5EA8"/>
                </a:solidFill>
              </a:rPr>
              <a:t>El DANE publica la PTF sectorial con esta desagregación máxima.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666750" y="1524000"/>
          <a:ext xmlns:a="http://schemas.openxmlformats.org/drawingml/2006/main" cx="10858500" cy="42862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857500"/>
                <a:gridCol w="8001000"/>
              </a:tblGrid>
              <a:tr h="714375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7365D"/>
                          </a:solidFill>
                        </a:rPr>
                        <a:t>Rama</a:t>
                      </a:r>
                    </a:p>
                  </a:txBody>
                  <a:tcPr marL="95250" marR="95250" marT="76200" marB="76200">
                    <a:solidFill>
                      <a:srgbClr val="DCE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7365D"/>
                          </a:solidFill>
                        </a:rPr>
                        <a:t>Subactividades incluidas</a:t>
                      </a:r>
                    </a:p>
                  </a:txBody>
                  <a:tcPr marL="95250" marR="95250" marT="76200" marB="76200">
                    <a:solidFill>
                      <a:srgbClr val="DCE8F5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365D"/>
                          </a:solidFill>
                        </a:rPr>
                        <a:t>Agropecuario</a:t>
                      </a:r>
                    </a:p>
                  </a:txBody>
                  <a:tcPr marL="95250" marR="95250" marT="76200" marB="76200"/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222222"/>
                          </a:solidFill>
                        </a:rPr>
                        <a:t>Agricultura, ganadería, caza, silvicultura y pesca.</a:t>
                      </a:r>
                    </a:p>
                  </a:txBody>
                  <a:tcPr marL="95250" marR="95250" marT="76200" marB="76200"/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365D"/>
                          </a:solidFill>
                        </a:rPr>
                        <a:t>Minería</a:t>
                      </a:r>
                    </a:p>
                  </a:txBody>
                  <a:tcPr marL="95250" marR="95250" marT="76200" marB="76200"/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222222"/>
                          </a:solidFill>
                        </a:rPr>
                        <a:t>Explotación de minas y canteras.</a:t>
                      </a:r>
                    </a:p>
                  </a:txBody>
                  <a:tcPr marL="95250" marR="95250" marT="76200" marB="76200"/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365D"/>
                          </a:solidFill>
                        </a:rPr>
                        <a:t>Manufactura</a:t>
                      </a:r>
                    </a:p>
                  </a:txBody>
                  <a:tcPr marL="95250" marR="95250" marT="76200" marB="76200"/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222222"/>
                          </a:solidFill>
                        </a:rPr>
                        <a:t>Alimentos, textiles, refinación, químicos, metales, maquinaria, equipo y otras manufacturas.</a:t>
                      </a:r>
                    </a:p>
                  </a:txBody>
                  <a:tcPr marL="95250" marR="95250" marT="76200" marB="76200"/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365D"/>
                          </a:solidFill>
                        </a:rPr>
                        <a:t>Servicios públicos</a:t>
                      </a:r>
                    </a:p>
                  </a:txBody>
                  <a:tcPr marL="95250" marR="95250" marT="76200" marB="76200"/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222222"/>
                          </a:solidFill>
                        </a:rPr>
                        <a:t>Suministro de electricidad, gas y agua.</a:t>
                      </a:r>
                    </a:p>
                  </a:txBody>
                  <a:tcPr marL="95250" marR="95250" marT="76200" marB="76200"/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365D"/>
                          </a:solidFill>
                        </a:rPr>
                        <a:t>Construcción</a:t>
                      </a:r>
                    </a:p>
                  </a:txBody>
                  <a:tcPr marL="95250" marR="95250" marT="76200" marB="76200"/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222222"/>
                          </a:solidFill>
                        </a:rPr>
                        <a:t>Construcción.</a:t>
                      </a:r>
                    </a:p>
                  </a:txBody>
                  <a:tcPr marL="95250" marR="95250" marT="76200" marB="76200"/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D9AD5D-3C10-43AF-97DB-468C8A77E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0075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B6B6B"/>
                </a:solidFill>
              </a:defRPr>
            </a:pPr>
            <a:r>
              <a:rPr sz="1050">
                <a:solidFill>
                  <a:srgbClr val="6B6B6B"/>
                </a:solidFill>
              </a:rPr>
              <a:t>Fuente: DANE.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89B487-A818-4610-873C-B5661AB33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53200"/>
            <a:ext cx="952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EA8"/>
          </a:solidFill>
          <a:ln xmlns:a="http://schemas.openxmlformats.org/drawingml/2006/main" w="0">
            <a:solidFill>
              <a:srgbClr val="1F5EA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62C70F-2646-4A27-966A-BE8507414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553200"/>
            <a:ext cx="2667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4A4A4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69F381-C51B-41F6-B594-EAF5F6B69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5913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</a:rPr>
              <a:t>Centro Javeriano de Competitividad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BA2FDC-7DD8-4C11-A844-18B514014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91300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</a:rPr>
              <a:t>15/16</a:t>
            </a:r>
          </a:p>
        </p:txBody>
      </p:sp>
    </p:spTree>
    <p:extLst>
      <p:ext uri="{BB962C8B-B14F-4D97-AF65-F5344CB8AC3E}">
        <p14:creationId xmlns:p14="http://schemas.microsoft.com/office/powerpoint/2010/main" val="39115368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C04A47-3D17-41AD-9280-CECBC7D90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"/>
            <a:ext cx="11201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365D"/>
                </a:solidFill>
              </a:defRPr>
            </a:pPr>
            <a:r>
              <a:rPr sz="2850" b="1">
                <a:solidFill>
                  <a:srgbClr val="17365D"/>
                </a:solidFill>
              </a:rPr>
              <a:t>Apéndice: las ramas de servicios agrupan actividades heterogéneas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0F12BF-A65E-438C-BB75-3E3C77771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81050"/>
            <a:ext cx="166687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C400"/>
          </a:solidFill>
          <a:ln xmlns:a="http://schemas.openxmlformats.org/drawingml/2006/main" w="0">
            <a:solidFill>
              <a:srgbClr val="F2C40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8F2BB7-626D-4EE8-8A2C-11F8BE6FF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2175" y="781050"/>
            <a:ext cx="7239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EA8"/>
          </a:solidFill>
          <a:ln xmlns:a="http://schemas.openxmlformats.org/drawingml/2006/main" w="0">
            <a:solidFill>
              <a:srgbClr val="1F5EA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BDCDB0-A00C-4643-9C52-721A21D3C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95350"/>
            <a:ext cx="11201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5EA8"/>
                </a:solidFill>
              </a:defRPr>
            </a:pPr>
            <a:r>
              <a:rPr sz="1650" b="1">
                <a:solidFill>
                  <a:srgbClr val="1F5EA8"/>
                </a:solidFill>
              </a:rPr>
              <a:t>Las categorías permiten comparar toda la economía, pero no identificar resultados por subactividad.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666750" y="1571625"/>
          <a:ext xmlns:a="http://schemas.openxmlformats.org/drawingml/2006/main" cx="10858500" cy="40957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143250"/>
                <a:gridCol w="7715250"/>
              </a:tblGrid>
              <a:tr h="81915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7365D"/>
                          </a:solidFill>
                        </a:rPr>
                        <a:t>Rama</a:t>
                      </a:r>
                    </a:p>
                  </a:txBody>
                  <a:tcPr marL="95250" marR="95250" marT="76200" marB="76200">
                    <a:solidFill>
                      <a:srgbClr val="DCE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7365D"/>
                          </a:solidFill>
                        </a:rPr>
                        <a:t>Subactividades incluidas</a:t>
                      </a:r>
                    </a:p>
                  </a:txBody>
                  <a:tcPr marL="95250" marR="95250" marT="76200" marB="76200">
                    <a:solidFill>
                      <a:srgbClr val="DCE8F5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365D"/>
                          </a:solidFill>
                        </a:rPr>
                        <a:t>Comercio y hotelería</a:t>
                      </a:r>
                    </a:p>
                  </a:txBody>
                  <a:tcPr marL="95250" marR="95250" marT="76200" marB="76200"/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222222"/>
                          </a:solidFill>
                        </a:rPr>
                        <a:t>Comercio, reparación de vehículos, hoteles y restaurantes.</a:t>
                      </a:r>
                    </a:p>
                  </a:txBody>
                  <a:tcPr marL="95250" marR="95250" marT="76200" marB="76200"/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365D"/>
                          </a:solidFill>
                        </a:rPr>
                        <a:t>Transporte y comunicaciones</a:t>
                      </a:r>
                    </a:p>
                  </a:txBody>
                  <a:tcPr marL="95250" marR="95250" marT="76200" marB="76200"/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222222"/>
                          </a:solidFill>
                        </a:rPr>
                        <a:t>Transporte, almacenamiento y comunicaciones.</a:t>
                      </a:r>
                    </a:p>
                  </a:txBody>
                  <a:tcPr marL="95250" marR="95250" marT="76200" marB="76200"/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365D"/>
                          </a:solidFill>
                        </a:rPr>
                        <a:t>Financieras</a:t>
                      </a:r>
                    </a:p>
                  </a:txBody>
                  <a:tcPr marL="95250" marR="95250" marT="76200" marB="76200"/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222222"/>
                          </a:solidFill>
                        </a:rPr>
                        <a:t>Intermediación financiera; actividades inmobiliarias, empresariales y de alquiler.</a:t>
                      </a:r>
                    </a:p>
                  </a:txBody>
                  <a:tcPr marL="95250" marR="95250" marT="76200" marB="76200"/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365D"/>
                          </a:solidFill>
                        </a:rPr>
                        <a:t>Servicios sociales y personales</a:t>
                      </a:r>
                    </a:p>
                  </a:txBody>
                  <a:tcPr marL="95250" marR="95250" marT="76200" marB="76200"/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222222"/>
                          </a:solidFill>
                        </a:rPr>
                        <a:t>Administración pública, educación, salud, servicios comunitarios y personales, hogares y organismos extraterritoriales.</a:t>
                      </a:r>
                    </a:p>
                  </a:txBody>
                  <a:tcPr marL="95250" marR="95250" marT="76200" marB="76200"/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8C38EB-D87F-46B6-AC7F-9BB9AC72F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0075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B6B6B"/>
                </a:solidFill>
              </a:defRPr>
            </a:pPr>
            <a:r>
              <a:rPr sz="1050">
                <a:solidFill>
                  <a:srgbClr val="6B6B6B"/>
                </a:solidFill>
              </a:rPr>
              <a:t>Fuente: DANE.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9A26CD-D7F9-44AF-B957-97D16D544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53200"/>
            <a:ext cx="952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EA8"/>
          </a:solidFill>
          <a:ln xmlns:a="http://schemas.openxmlformats.org/drawingml/2006/main" w="0">
            <a:solidFill>
              <a:srgbClr val="1F5EA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809692-2167-4D6A-9662-2CD1429B8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553200"/>
            <a:ext cx="2667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4A4A4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30E93B-9E89-4CE6-A457-02F21B267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5913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</a:rPr>
              <a:t>Centro Javeriano de Competitividad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579E39-A3D9-4499-B56D-0C6F0D55B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91300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</a:rPr>
              <a:t>16/16</a:t>
            </a:r>
          </a:p>
        </p:txBody>
      </p:sp>
    </p:spTree>
    <p:extLst>
      <p:ext uri="{BB962C8B-B14F-4D97-AF65-F5344CB8AC3E}">
        <p14:creationId xmlns:p14="http://schemas.microsoft.com/office/powerpoint/2010/main" val="148209061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2026-08-02T12:00:53.5240000Z</dcterms:created>
  <dcterms:modified xsi:type="dcterms:W3CDTF">2026-08-02T12:00:53.5240000Z</dcterms:modified>
</coreProperties>
</file>