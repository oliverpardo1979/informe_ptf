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bdd3d8f1654947" /><Relationship Type="http://schemas.openxmlformats.org/officeDocument/2006/relationships/extended-properties" Target="/docProps/app.xml" Id="R51d6c3d39ec64125" /><Relationship Type="http://schemas.openxmlformats.org/officeDocument/2006/relationships/officeDocument" Target="/ppt/presentation.xml" Id="R0d583f0d9cf24d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c541747e6f46f4"/>
  </p:sldMasterIdLst>
  <p:notesMasterIdLst>
    <p:notesMasterId xmlns:r="http://schemas.openxmlformats.org/officeDocument/2006/relationships" r:id="R9a9ea14ecf494a5f"/>
  </p:notesMasterIdLst>
  <p:sldIdLst>
    <p:sldId xmlns:r="http://schemas.openxmlformats.org/officeDocument/2006/relationships" id="256" r:id="R35cbf0ac661d407f"/>
    <p:sldId xmlns:r="http://schemas.openxmlformats.org/officeDocument/2006/relationships" id="257" r:id="R51efb64cf7fb4248"/>
    <p:sldId xmlns:r="http://schemas.openxmlformats.org/officeDocument/2006/relationships" id="258" r:id="R53747cc9733242a8"/>
    <p:sldId xmlns:r="http://schemas.openxmlformats.org/officeDocument/2006/relationships" id="259" r:id="Ref900d7848b4417f"/>
    <p:sldId xmlns:r="http://schemas.openxmlformats.org/officeDocument/2006/relationships" id="260" r:id="R62c171bcfbe24945"/>
    <p:sldId xmlns:r="http://schemas.openxmlformats.org/officeDocument/2006/relationships" id="261" r:id="R914e7bd93d7a4f08"/>
    <p:sldId xmlns:r="http://schemas.openxmlformats.org/officeDocument/2006/relationships" id="262" r:id="R0a2b73e960044821"/>
    <p:sldId xmlns:r="http://schemas.openxmlformats.org/officeDocument/2006/relationships" id="263" r:id="Rd56d2b5d05a94ae2"/>
    <p:sldId xmlns:r="http://schemas.openxmlformats.org/officeDocument/2006/relationships" id="264" r:id="R3122afa889c644f6"/>
    <p:sldId xmlns:r="http://schemas.openxmlformats.org/officeDocument/2006/relationships" id="265" r:id="R33d40fc8277f4746"/>
    <p:sldId xmlns:r="http://schemas.openxmlformats.org/officeDocument/2006/relationships" id="266" r:id="R3eff2072e6674235"/>
    <p:sldId xmlns:r="http://schemas.openxmlformats.org/officeDocument/2006/relationships" id="267" r:id="R51f010b3f13f4287"/>
    <p:sldId xmlns:r="http://schemas.openxmlformats.org/officeDocument/2006/relationships" id="268" r:id="Rb1a37f55841343d0"/>
    <p:sldId xmlns:r="http://schemas.openxmlformats.org/officeDocument/2006/relationships" id="269" r:id="R8bb3b402d81e401a"/>
    <p:sldId xmlns:r="http://schemas.openxmlformats.org/officeDocument/2006/relationships" id="270" r:id="R314032410dc948e9"/>
    <p:sldId xmlns:r="http://schemas.openxmlformats.org/officeDocument/2006/relationships" id="271" r:id="R9eb1f2fb2db34fa9"/>
    <p:sldId xmlns:r="http://schemas.openxmlformats.org/officeDocument/2006/relationships" id="272" r:id="R83b551e6ff2b40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c1754543e443c6" /><Relationship Type="http://schemas.openxmlformats.org/officeDocument/2006/relationships/slideMaster" Target="/ppt/slideMasters/slideMaster1.xml" Id="R7cc541747e6f46f4" /><Relationship Type="http://schemas.openxmlformats.org/officeDocument/2006/relationships/notesMaster" Target="/ppt/notesMasters/notesMaster1.xml" Id="R9a9ea14ecf494a5f" /><Relationship Type="http://schemas.openxmlformats.org/officeDocument/2006/relationships/presProps" Target="/ppt/presProps.xml" Id="R3391150c506845aa" /><Relationship Type="http://schemas.openxmlformats.org/officeDocument/2006/relationships/tableStyles" Target="/ppt/tableStyles.xml" Id="R052a24f48060446f" /><Relationship Type="http://schemas.openxmlformats.org/officeDocument/2006/relationships/slide" Target="/ppt/slides/slide1.xml" Id="R35cbf0ac661d407f" /><Relationship Type="http://schemas.openxmlformats.org/officeDocument/2006/relationships/slide" Target="/ppt/slides/slide2.xml" Id="R51efb64cf7fb4248" /><Relationship Type="http://schemas.openxmlformats.org/officeDocument/2006/relationships/slide" Target="/ppt/slides/slide3.xml" Id="R53747cc9733242a8" /><Relationship Type="http://schemas.openxmlformats.org/officeDocument/2006/relationships/slide" Target="/ppt/slides/slide4.xml" Id="Ref900d7848b4417f" /><Relationship Type="http://schemas.openxmlformats.org/officeDocument/2006/relationships/slide" Target="/ppt/slides/slide5.xml" Id="R62c171bcfbe24945" /><Relationship Type="http://schemas.openxmlformats.org/officeDocument/2006/relationships/slide" Target="/ppt/slides/slide6.xml" Id="R914e7bd93d7a4f08" /><Relationship Type="http://schemas.openxmlformats.org/officeDocument/2006/relationships/slide" Target="/ppt/slides/slide7.xml" Id="R0a2b73e960044821" /><Relationship Type="http://schemas.openxmlformats.org/officeDocument/2006/relationships/slide" Target="/ppt/slides/slide8.xml" Id="Rd56d2b5d05a94ae2" /><Relationship Type="http://schemas.openxmlformats.org/officeDocument/2006/relationships/slide" Target="/ppt/slides/slide9.xml" Id="R3122afa889c644f6" /><Relationship Type="http://schemas.openxmlformats.org/officeDocument/2006/relationships/slide" Target="/ppt/slides/slide10.xml" Id="R33d40fc8277f4746" /><Relationship Type="http://schemas.openxmlformats.org/officeDocument/2006/relationships/slide" Target="/ppt/slides/slide11.xml" Id="R3eff2072e6674235" /><Relationship Type="http://schemas.openxmlformats.org/officeDocument/2006/relationships/slide" Target="/ppt/slides/slide12.xml" Id="R51f010b3f13f4287" /><Relationship Type="http://schemas.openxmlformats.org/officeDocument/2006/relationships/slide" Target="/ppt/slides/slide13.xml" Id="Rb1a37f55841343d0" /><Relationship Type="http://schemas.openxmlformats.org/officeDocument/2006/relationships/slide" Target="/ppt/slides/slide14.xml" Id="R8bb3b402d81e401a" /><Relationship Type="http://schemas.openxmlformats.org/officeDocument/2006/relationships/slide" Target="/ppt/slides/slide15.xml" Id="R314032410dc948e9" /><Relationship Type="http://schemas.openxmlformats.org/officeDocument/2006/relationships/slide" Target="/ppt/slides/slide16.xml" Id="R9eb1f2fb2db34fa9" /><Relationship Type="http://schemas.openxmlformats.org/officeDocument/2006/relationships/slide" Target="/ppt/slides/slide17.xml" Id="R83b551e6ff2b40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0664993b34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3e7145f08499c" /><Relationship Type="http://schemas.openxmlformats.org/officeDocument/2006/relationships/notesMaster" Target="/ppt/notesMasters/notesMaster1.xml" Id="R127cc7c31cc540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0d05e1f99849ed" /><Relationship Type="http://schemas.openxmlformats.org/officeDocument/2006/relationships/notesMaster" Target="/ppt/notesMasters/notesMaster1.xml" Id="Rb8462345ba23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21730c629342c8" /><Relationship Type="http://schemas.openxmlformats.org/officeDocument/2006/relationships/notesMaster" Target="/ppt/notesMasters/notesMaster1.xml" Id="R4f7a2b1c301d4c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55fd80d71a4c5a" /><Relationship Type="http://schemas.openxmlformats.org/officeDocument/2006/relationships/notesMaster" Target="/ppt/notesMasters/notesMaster1.xml" Id="R0ce0b16b1cd8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bfcaf0d2414c39" /><Relationship Type="http://schemas.openxmlformats.org/officeDocument/2006/relationships/notesMaster" Target="/ppt/notesMasters/notesMaster1.xml" Id="Rdf993b5a81b041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e021c6103469d" /><Relationship Type="http://schemas.openxmlformats.org/officeDocument/2006/relationships/notesMaster" Target="/ppt/notesMasters/notesMaster1.xml" Id="R9ef92183199c49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fc4404848a45dd" /><Relationship Type="http://schemas.openxmlformats.org/officeDocument/2006/relationships/notesMaster" Target="/ppt/notesMasters/notesMaster1.xml" Id="R4474fe5a0f7d44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c37eec26754f92" /><Relationship Type="http://schemas.openxmlformats.org/officeDocument/2006/relationships/notesMaster" Target="/ppt/notesMasters/notesMaster1.xml" Id="R8c9f0df97e384d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79cee88b5e4372" /><Relationship Type="http://schemas.openxmlformats.org/officeDocument/2006/relationships/notesMaster" Target="/ppt/notesMasters/notesMaster1.xml" Id="R4dbc656830dd43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a4474c45564936" /><Relationship Type="http://schemas.openxmlformats.org/officeDocument/2006/relationships/notesMaster" Target="/ppt/notesMasters/notesMaster1.xml" Id="Read667d989c649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034744fd88418f" /><Relationship Type="http://schemas.openxmlformats.org/officeDocument/2006/relationships/notesMaster" Target="/ppt/notesMasters/notesMaster1.xml" Id="R2420cef9d2bc43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7fc3a4ac3e4c90" /><Relationship Type="http://schemas.openxmlformats.org/officeDocument/2006/relationships/notesMaster" Target="/ppt/notesMasters/notesMaster1.xml" Id="R7fe484ba829845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8e70a2442540bb" /><Relationship Type="http://schemas.openxmlformats.org/officeDocument/2006/relationships/notesMaster" Target="/ppt/notesMasters/notesMaster1.xml" Id="Rf44a505e795b4d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faa0d4d41f481d" /><Relationship Type="http://schemas.openxmlformats.org/officeDocument/2006/relationships/notesMaster" Target="/ppt/notesMasters/notesMaster1.xml" Id="R26b76949d9d946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bf7eea63874adf" /><Relationship Type="http://schemas.openxmlformats.org/officeDocument/2006/relationships/notesMaster" Target="/ppt/notesMasters/notesMaster1.xml" Id="R8f7eb2e011cf43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e5fa01a9b0455d" /><Relationship Type="http://schemas.openxmlformats.org/officeDocument/2006/relationships/notesMaster" Target="/ppt/notesMasters/notesMaster1.xml" Id="Rb4d4d83ccfa849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251249bc3a4a9b" /><Relationship Type="http://schemas.openxmlformats.org/officeDocument/2006/relationships/notesMaster" Target="/ppt/notesMasters/notesMaster1.xml" Id="Rff8df2329f6743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comunicado de prensa e Informe 02.</a:t>
            </a:r>
          </a:p>
          <a:p xmlns:a="http://schemas.openxmlformats.org/drawingml/2006/main">
            <a:r>
              <a:t>- DANE, nota metodológica de la Productividad Total de los Factores.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02, contrafactual agregado bajo el enfoque de valor agregado.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DANE, nota metodológica de la Productividad Total de los Factores.</a:t>
            </a:r>
          </a:p>
          <a:p xmlns:a="http://schemas.openxmlformats.org/drawingml/2006/main">
            <a:r>
              <a:t>- Centro Javeriano de Competitividad, Informe 02, secciones 2 y 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índice encadenado de la PTF total.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crecimiento anual de la PTF total.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descomposición del crecimiento del valor agregado bruto.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crecimiento anual de la PTF por actividad.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crecimiento de largo plazo de la PTF por actividad.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02, Cuadro A1: evolución de la PTF por actividad y contribución al total.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contribuciones de las actividades a la PTF total.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contribuciones sectoriales por subperiodo.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descomposición del crecimiento de la producción por actividad.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02: La Productividad Total de los Factores por Actividad Económica en Colombia, contrafactual de contribuciones sectoriales al crecimiento.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02, conclusiones.</a:t>
            </a:r>
          </a:p>
          <a:p xmlns:a="http://schemas.openxmlformats.org/drawingml/2006/main">
            <a:r>
              <a:t>- Fuente primaria: DANE,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02, Cuadro 1.</a:t>
            </a:r>
          </a:p>
          <a:p xmlns:a="http://schemas.openxmlformats.org/drawingml/2006/main">
            <a:r>
              <a:t>- DANE, clasificación sectorial utilizada en el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Centro Javeriano de Competitividad, Informe 02, Cuadro 1.</a:t>
            </a:r>
          </a:p>
          <a:p xmlns:a="http://schemas.openxmlformats.org/drawingml/2006/main">
            <a:r>
              <a:t>- DANE, clasificación sectorial utilizada en el anexo PTF 2025.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a4a6a9a2c45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21d511ee8242fd" /><Relationship Type="http://schemas.openxmlformats.org/officeDocument/2006/relationships/slideLayout" Target="/ppt/slideLayouts/slideLayout1.xml" Id="R86070ce5078a48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070ce5078a48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405612a3e46b4" /><Relationship Type="http://schemas.openxmlformats.org/officeDocument/2006/relationships/image" Target="/ppt/media/image.png" Id="R4583ff740101438e" /><Relationship Type="http://schemas.openxmlformats.org/officeDocument/2006/relationships/notesSlide" Target="/ppt/notesSlides/notesSlide1.xml" Id="R57beaf5467734c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78aa81c9b4450" /><Relationship Type="http://schemas.openxmlformats.org/officeDocument/2006/relationships/notesSlide" Target="/ppt/notesSlides/notesSlide2.xml" Id="Rd0d11ce1ccf241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b7b65ee9a4a3d" /><Relationship Type="http://schemas.openxmlformats.org/officeDocument/2006/relationships/notesSlide" Target="/ppt/notesSlides/notesSlide3.xml" Id="R2da5b00c24b84e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a4f84ffd444ff" /><Relationship Type="http://schemas.openxmlformats.org/officeDocument/2006/relationships/notesSlide" Target="/ppt/notesSlides/notesSlide4.xml" Id="Rf789c2c6cac64b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7ea6aedc349b7" /><Relationship Type="http://schemas.openxmlformats.org/officeDocument/2006/relationships/image" Target="/ppt/media/image2.png" Id="Rad7da109904e407b" /><Relationship Type="http://schemas.openxmlformats.org/officeDocument/2006/relationships/notesSlide" Target="/ppt/notesSlides/notesSlide5.xml" Id="R48c54912499b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9168cb6f24917" /><Relationship Type="http://schemas.openxmlformats.org/officeDocument/2006/relationships/image" Target="/ppt/media/image3.png" Id="R5166ed73001847bc" /><Relationship Type="http://schemas.openxmlformats.org/officeDocument/2006/relationships/notesSlide" Target="/ppt/notesSlides/notesSlide6.xml" Id="R270c284b808c47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9468528ab4748" /><Relationship Type="http://schemas.openxmlformats.org/officeDocument/2006/relationships/image" Target="/ppt/media/image4.png" Id="Re65aac14128b4e9b" /><Relationship Type="http://schemas.openxmlformats.org/officeDocument/2006/relationships/notesSlide" Target="/ppt/notesSlides/notesSlide7.xml" Id="Re5ff06cfb56245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d69f258dc41b2" /><Relationship Type="http://schemas.openxmlformats.org/officeDocument/2006/relationships/image" Target="/ppt/media/image5.png" Id="R01a80c49f94f4c62" /><Relationship Type="http://schemas.openxmlformats.org/officeDocument/2006/relationships/notesSlide" Target="/ppt/notesSlides/notesSlide8.xml" Id="R7b4754ba937044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98086fe2b48c0" /><Relationship Type="http://schemas.openxmlformats.org/officeDocument/2006/relationships/image" Target="/ppt/media/image6.png" Id="R66b863f461e34a5f" /><Relationship Type="http://schemas.openxmlformats.org/officeDocument/2006/relationships/notesSlide" Target="/ppt/notesSlides/notesSlide9.xml" Id="R680536cfb86f42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d72c64f6b44a7" /><Relationship Type="http://schemas.openxmlformats.org/officeDocument/2006/relationships/notesSlide" Target="/ppt/notesSlides/notesSlide10.xml" Id="Rafe7bc9db47a4d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bf17eb4804028" /><Relationship Type="http://schemas.openxmlformats.org/officeDocument/2006/relationships/image" Target="/ppt/media/image7.png" Id="Re032a0cd3ddf4b0a" /><Relationship Type="http://schemas.openxmlformats.org/officeDocument/2006/relationships/notesSlide" Target="/ppt/notesSlides/notesSlide11.xml" Id="R72bbca3f8b4f4a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96d743ec24018" /><Relationship Type="http://schemas.openxmlformats.org/officeDocument/2006/relationships/image" Target="/ppt/media/image8.png" Id="Raa085891fd434f8c" /><Relationship Type="http://schemas.openxmlformats.org/officeDocument/2006/relationships/notesSlide" Target="/ppt/notesSlides/notesSlide12.xml" Id="Rb80d49c096fa4f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70e59ab64435b" /><Relationship Type="http://schemas.openxmlformats.org/officeDocument/2006/relationships/image" Target="/ppt/media/image9.png" Id="R519646cd01ce45da" /><Relationship Type="http://schemas.openxmlformats.org/officeDocument/2006/relationships/notesSlide" Target="/ppt/notesSlides/notesSlide13.xml" Id="Rddc72dc268c647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08d63e1ee4bab" /><Relationship Type="http://schemas.openxmlformats.org/officeDocument/2006/relationships/image" Target="/ppt/media/image10.png" Id="R34e7d731b5eb4338" /><Relationship Type="http://schemas.openxmlformats.org/officeDocument/2006/relationships/notesSlide" Target="/ppt/notesSlides/notesSlide14.xml" Id="R069e58ef355345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61f5b3f8443c9" /><Relationship Type="http://schemas.openxmlformats.org/officeDocument/2006/relationships/notesSlide" Target="/ppt/notesSlides/notesSlide15.xml" Id="R268d2f16b0d947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4d809cef84d19" /><Relationship Type="http://schemas.openxmlformats.org/officeDocument/2006/relationships/notesSlide" Target="/ppt/notesSlides/notesSlide16.xml" Id="R834c7ff80a6142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d3da068f94c86" /><Relationship Type="http://schemas.openxmlformats.org/officeDocument/2006/relationships/notesSlide" Target="/ppt/notesSlides/notesSlide17.xml" Id="Rb8602e710aee42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3ff740101438e"/>
          <a:stretch xmlns:a="http://schemas.openxmlformats.org/drawingml/2006/main"/>
        </p:blipFill>
        <p:spPr>
          <a:xfrm xmlns:a="http://schemas.openxmlformats.org/drawingml/2006/main">
            <a:off x="636489" y="419100"/>
            <a:ext cx="3098998" cy="990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3EFFD-7B9A-440F-8484-25BFC0E8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A4A4A"/>
                </a:solidFill>
              </a:defRPr>
            </a:pPr>
            <a:r>
              <a:rPr sz="2100">
                <a:solidFill>
                  <a:srgbClr val="4A4A4A"/>
                </a:solidFill>
              </a:rPr>
              <a:t>Informes sobre la Productividad en Colombia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99A00-7618-4981-8861-182C4997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A4A4A"/>
                </a:solidFill>
              </a:defRPr>
            </a:pPr>
            <a:r>
              <a:rPr sz="1725">
                <a:solidFill>
                  <a:srgbClr val="4A4A4A"/>
                </a:solidFill>
              </a:rPr>
              <a:t>Informe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9A64C-CF67-47B4-A244-755F490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4A75B-E762-4ADA-9C65-5F274DF6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828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307F2-CE18-4147-B6B4-3BB7F64B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65D"/>
                </a:solidFill>
              </a:defRPr>
            </a:pPr>
            <a:r>
              <a:rPr sz="4050" b="1">
                <a:solidFill>
                  <a:srgbClr val="17365D"/>
                </a:solidFill>
              </a:rPr>
              <a:t>La Productividad Total de los Factores por Actividad Económica en Colombia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3BD62-EF79-4690-8FDD-08DA6D78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A4A4A"/>
                </a:solidFill>
              </a:defRPr>
            </a:pPr>
            <a:r>
              <a:rPr sz="2100">
                <a:solidFill>
                  <a:srgbClr val="4A4A4A"/>
                </a:solidFill>
              </a:rPr>
              <a:t>Avances y retrocesos, 2005–2025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0186D-7E82-4AAA-97BF-59CC8006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Oliver Pardo  |  Jorge Orozco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C2F1A-45C5-4AF6-9F05-5D12EB0A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67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A4A4A"/>
                </a:solidFill>
              </a:defRPr>
            </a:pPr>
            <a:r>
              <a:rPr sz="1500">
                <a:solidFill>
                  <a:srgbClr val="4A4A4A"/>
                </a:solidFill>
              </a:rPr>
              <a:t>Julio de 2026</a:t>
            </a:r>
          </a:p>
        </p:txBody>
      </p:sp>
    </p:spTree>
    <p:extLst>
      <p:ext uri="{BB962C8B-B14F-4D97-AF65-F5344CB8AC3E}">
        <p14:creationId xmlns:p14="http://schemas.microsoft.com/office/powerpoint/2010/main" val="515738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947FE-02F6-43A1-B365-29907644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La PTF mide cuánto produce la economía con los recursos que utiliza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9AD7D-3EE2-4DE1-A64A-A003E65C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463AC-D99D-42FD-9DA9-A4CEE358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FDE38-E118-4ED0-9FF2-C6ABA47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Es la parte del crecimiento que no se explica por la acumulación de capital físico y humano.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8ACFA-981A-4F90-8EA8-AEB12460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Crecimiento de la economía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C9D69-B47E-4452-B4DC-FDBE8662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002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A4A4A"/>
                </a:solidFill>
              </a:defRPr>
            </a:pPr>
            <a:r>
              <a:rPr sz="2550" b="1">
                <a:solidFill>
                  <a:srgbClr val="4A4A4A"/>
                </a:solidFill>
              </a:rPr>
              <a:t>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22674-9B0F-451A-A35B-6EE782AB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3381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5EA8"/>
                </a:solidFill>
              </a:defRPr>
            </a:pPr>
            <a:r>
              <a:rPr sz="2100" b="1">
                <a:solidFill>
                  <a:srgbClr val="1F5EA8"/>
                </a:solidFill>
              </a:rPr>
              <a:t>Aporte del capital</a:t>
            </a:r>
          </a:p>
          <a:p xmlns:a="http://schemas.openxmlformats.org/drawingml/2006/main">
            <a:pPr algn="ctr">
              <a:defRPr sz="2100" b="1">
                <a:solidFill>
                  <a:srgbClr val="1F5EA8"/>
                </a:solidFill>
              </a:defRPr>
            </a:pPr>
            <a:r>
              <a:rPr sz="2100" b="1">
                <a:solidFill>
                  <a:srgbClr val="1F5EA8"/>
                </a:solidFill>
              </a:rPr>
              <a:t>físico y humano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B1513-754E-4807-B0C7-401E1F63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00200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A4A4A"/>
                </a:solidFill>
              </a:defRPr>
            </a:pPr>
            <a:r>
              <a:rPr sz="2550" b="1">
                <a:solidFill>
                  <a:srgbClr val="4A4A4A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5F6A0-F225-48ED-8810-7E1459D6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07800"/>
                </a:solidFill>
              </a:defRPr>
            </a:pPr>
            <a:r>
              <a:rPr sz="2400" b="1">
                <a:solidFill>
                  <a:srgbClr val="B07800"/>
                </a:solidFill>
              </a:rPr>
              <a:t>PTF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0EACA-D8C7-416A-9FEC-37E4718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55140-0A28-4925-A9CA-B6A7D2E3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F81BD"/>
                </a:solidFill>
              </a:defRPr>
            </a:pPr>
            <a:r>
              <a:rPr sz="2025" b="1">
                <a:solidFill>
                  <a:srgbClr val="4F81BD"/>
                </a:solidFill>
              </a:rPr>
              <a:t>PTF positiva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349A2-0F04-4E9A-B975-2198E126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5750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La producción crece más de lo que explican el capital físico y humano.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2EE9F-CD92-443E-A472-FF314E0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4A4A4A"/>
                </a:solidFill>
              </a:defRPr>
            </a:pPr>
            <a:r>
              <a:rPr sz="2025" b="1">
                <a:solidFill>
                  <a:srgbClr val="4A4A4A"/>
                </a:solidFill>
              </a:rPr>
              <a:t>PTF igual a cero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31C63-5C0B-4482-8883-B98B5F88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1000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El crecimiento se explica completamente por la acumulación de esos factores.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19C18-4DC2-4BD7-9E6C-0FBE4869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C44E52"/>
                </a:solidFill>
              </a:defRPr>
            </a:pPr>
            <a:r>
              <a:rPr sz="2025" b="1">
                <a:solidFill>
                  <a:srgbClr val="C44E52"/>
                </a:solidFill>
              </a:rPr>
              <a:t>PTF negativa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6E633-4C9A-450E-B9B6-72A23201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6250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El crecimiento de la producción es inferior al aporte estimado de los factores.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7FC7C-769E-4CB4-A81B-54E2351E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i="1">
                <a:solidFill>
                  <a:srgbClr val="6B6B6B"/>
                </a:solidFill>
              </a:defRPr>
            </a:pPr>
            <a:r>
              <a:rPr sz="1500" i="1">
                <a:solidFill>
                  <a:srgbClr val="6B6B6B"/>
                </a:solidFill>
              </a:rPr>
              <a:t>La PTF no es un factor adicional: es el resultado que queda después de descontar el aporte de los recursos utilizados. El cálculo muestra cuánto aporta, pero no identifica por qué cambia.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67057-1021-432C-A7D1-34392846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C8972-F4E4-46F1-944B-6464704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31ADD-379F-4992-A5FB-4720224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202FF-CEF0-484C-A3CD-F619D91D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2/17</a:t>
            </a:r>
          </a:p>
        </p:txBody>
      </p:sp>
    </p:spTree>
    <p:extLst>
      <p:ext uri="{BB962C8B-B14F-4D97-AF65-F5344CB8AC3E}">
        <p14:creationId xmlns:p14="http://schemas.microsoft.com/office/powerpoint/2010/main" val="696104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8B118-73A9-4D05-999E-8BFB066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Una mayor PTF permite crecer más con los mismos recursos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DECE1-CA29-4469-B46C-9D858DB0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5A469-4CEB-45B4-B002-1B550A68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96AF5-7524-4951-90EA-1D0D152C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Una diferencia pequeña cada año se acumula durante dos décadas.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9366A-D418-44D6-A8FD-F86C37BC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4A4A4A"/>
                </a:solidFill>
              </a:defRPr>
            </a:pPr>
            <a:r>
              <a:rPr sz="4800" b="1">
                <a:solidFill>
                  <a:srgbClr val="4A4A4A"/>
                </a:solidFill>
              </a:rPr>
              <a:t>3,39%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353B5-EEDC-4566-9C35-5F4F225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A4A4A"/>
                </a:solidFill>
              </a:defRPr>
            </a:pPr>
            <a:r>
              <a:rPr sz="1650">
                <a:solidFill>
                  <a:srgbClr val="4A4A4A"/>
                </a:solidFill>
              </a:rPr>
              <a:t>Crecimiento observado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F5F12-F8A1-4CAF-8FB2-6FE2FC0E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621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F5EA8"/>
                </a:solidFill>
              </a:defRPr>
            </a:pPr>
            <a:r>
              <a:rPr sz="4050" b="1">
                <a:solidFill>
                  <a:srgbClr val="1F5EA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05659-E19F-4136-BAB2-55F7D07B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B07800"/>
                </a:solidFill>
              </a:defRPr>
            </a:pPr>
            <a:r>
              <a:rPr sz="4200" b="1">
                <a:solidFill>
                  <a:srgbClr val="B07800"/>
                </a:solidFill>
              </a:rPr>
              <a:t>+1,00 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1C1FD-F93F-4EBB-9ACE-ACEEB45A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A4A4A"/>
                </a:solidFill>
              </a:defRPr>
            </a:pPr>
            <a:r>
              <a:rPr sz="1650">
                <a:solidFill>
                  <a:srgbClr val="4A4A4A"/>
                </a:solidFill>
              </a:rPr>
              <a:t>Crecimiento adicional de la PTF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9C700-F2E8-43FB-B535-8D5A565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62175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F5EA8"/>
                </a:solidFill>
              </a:defRPr>
            </a:pPr>
            <a:r>
              <a:rPr sz="4050" b="1">
                <a:solidFill>
                  <a:srgbClr val="1F5EA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017A3-847F-4A0E-9C77-F7977DA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7365D"/>
                </a:solidFill>
              </a:defRPr>
            </a:pPr>
            <a:r>
              <a:rPr sz="4800" b="1">
                <a:solidFill>
                  <a:srgbClr val="17365D"/>
                </a:solidFill>
              </a:rPr>
              <a:t>4,39%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29884-3FA8-48E8-B4F0-31ADA851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051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4A4A4A"/>
                </a:solidFill>
              </a:defRPr>
            </a:pPr>
            <a:r>
              <a:rPr sz="1650">
                <a:solidFill>
                  <a:srgbClr val="4A4A4A"/>
                </a:solidFill>
              </a:rPr>
              <a:t>Crecimiento contrafactual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3B45A-01A1-4299-A546-46AA2995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528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524C4-9A68-496C-A096-A074DC44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F5EA8"/>
                </a:solidFill>
              </a:defRPr>
            </a:pPr>
            <a:r>
              <a:rPr sz="4200" b="1">
                <a:solidFill>
                  <a:srgbClr val="1F5EA8"/>
                </a:solidFill>
              </a:rPr>
              <a:t>23,4% más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E8D97-5F8F-4B4E-A6D7-3D0268F2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4A4A4A"/>
                </a:solidFill>
              </a:defRPr>
            </a:pPr>
            <a:r>
              <a:rPr sz="1950">
                <a:solidFill>
                  <a:srgbClr val="4A4A4A"/>
                </a:solidFill>
              </a:rPr>
              <a:t>habría producido la economía en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A58EB-2300-41EE-AD96-CB46A358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i="1">
                <a:solidFill>
                  <a:srgbClr val="6B6B6B"/>
                </a:solidFill>
              </a:defRPr>
            </a:pPr>
            <a:r>
              <a:rPr sz="1350" i="1">
                <a:solidFill>
                  <a:srgbClr val="6B6B6B"/>
                </a:solidFill>
              </a:rPr>
              <a:t>El ejercicio no supone más capital físico ni humano: atribuye toda la diferencia a una PTF más alta.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0BAC6-65CD-491D-BE38-9EA0367B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8AB76-C0BE-4881-992E-9EB382C3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A63BB-803F-4F42-B5F7-260263C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41FF3-4AB3-41C0-86EA-B469F8B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3/17</a:t>
            </a:r>
          </a:p>
        </p:txBody>
      </p:sp>
    </p:spTree>
    <p:extLst>
      <p:ext uri="{BB962C8B-B14F-4D97-AF65-F5344CB8AC3E}">
        <p14:creationId xmlns:p14="http://schemas.microsoft.com/office/powerpoint/2010/main" val="1864223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F2F57-C9B6-4BBD-8DB2-F21B2671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El DANE obtiene la PTF al descontar el aporte de los recursos utilizados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7D8F1-0479-468D-A628-0DD064C5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B480F-3FC6-4895-B179-3F3DAD23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5ACEE-4330-45D8-A6EE-9595C89B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El cálculo atribuye primero parte del crecimiento al trabajo, el capital y, según el enfoque, los insumos intermedios.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8D774-38FA-4F12-8171-BC58828D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Crecimiento de la producción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7DED8-3D60-42A2-B2A2-C5CB3C45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525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A4A4A"/>
                </a:solidFill>
              </a:defRPr>
            </a:pPr>
            <a:r>
              <a:rPr sz="2550" b="1">
                <a:solidFill>
                  <a:srgbClr val="4A4A4A"/>
                </a:solidFill>
              </a:rPr>
              <a:t>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9EFA1-F62D-4320-8FFC-CE269198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5EA8"/>
                </a:solidFill>
              </a:defRPr>
            </a:pPr>
            <a:r>
              <a:rPr sz="1950" b="1">
                <a:solidFill>
                  <a:srgbClr val="1F5EA8"/>
                </a:solidFill>
              </a:rPr>
              <a:t>Contribución de factores e insumos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80BB3-4900-487B-BF13-0B017A9F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525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A4A4A"/>
                </a:solidFill>
              </a:defRPr>
            </a:pPr>
            <a:r>
              <a:rPr sz="2550" b="1">
                <a:solidFill>
                  <a:srgbClr val="4A4A4A"/>
                </a:solidFill>
              </a:rPr>
              <a:t>=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08155-6334-4E67-90CF-96734982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07800"/>
                </a:solidFill>
              </a:defRPr>
            </a:pPr>
            <a:r>
              <a:rPr sz="2250" b="1">
                <a:solidFill>
                  <a:srgbClr val="B07800"/>
                </a:solidFill>
              </a:rPr>
              <a:t>PTF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117A5-4F40-4460-A5F5-ECB5CB38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7CDF3-3328-49B2-9471-BE93A310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Enfoque de valor agregado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DC893-A6CC-48D4-8858-36145E50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Total de la economía</a:t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2005–2025</a:t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Descuenta trabajo y capital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B581F-1011-4F08-ABF9-8DC0E56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Enfoque de producción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72851-1D76-40E2-85CA-A31B5B64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Total y nueve ramas que abarcan toda la economía</a:t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2005–2024</a:t>
            </a:r>
          </a:p>
          <a:p xmlns:a="http://schemas.openxmlformats.org/drawingml/2006/main">
            <a:pPr>
              <a:defRPr sz="1800">
                <a:solidFill>
                  <a:srgbClr val="222222"/>
                </a:solidFill>
              </a:defRPr>
            </a:pPr>
            <a:r>
              <a:rPr sz="1800">
                <a:solidFill>
                  <a:srgbClr val="222222"/>
                </a:solidFill>
              </a:rPr>
              <a:t>Descuenta trabajo, capital, energía, materiales y servicios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709CD-AA97-4310-AED6-E84802C0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i="1">
                <a:solidFill>
                  <a:srgbClr val="6B6B6B"/>
                </a:solidFill>
              </a:defRPr>
            </a:pPr>
            <a:r>
              <a:rPr sz="1650" i="1">
                <a:solidFill>
                  <a:srgbClr val="6B6B6B"/>
                </a:solidFill>
              </a:rPr>
              <a:t>Los dos enfoques producen resultados distintos porque descuentan insumos distintos.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DE9E2-B178-4B7A-90D0-D9A1F5CE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C002A-1434-4B16-BBCF-A324F73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7C4FC-4E37-4F79-85D4-46E04D96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28D30-6B19-467D-9002-EC0596C7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4/17</a:t>
            </a:r>
          </a:p>
        </p:txBody>
      </p:sp>
    </p:spTree>
    <p:extLst>
      <p:ext uri="{BB962C8B-B14F-4D97-AF65-F5344CB8AC3E}">
        <p14:creationId xmlns:p14="http://schemas.microsoft.com/office/powerpoint/2010/main" val="1519110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921DA-888E-4131-923A-31D55F42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La PTF total terminó 1,5% por debajo de su nivel de 2004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13BEA-73EA-42FF-9799-30D96A84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F8199-E93F-4CB7-BE76-3F7B245B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ACED6-E918-456B-8C99-0A48191D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El índice encadenado cayó de 100 a 98,5 bajo el enfoque de producción.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da109904e407b"/>
          <a:stretch xmlns:a="http://schemas.openxmlformats.org/drawingml/2006/main"/>
        </p:blipFill>
        <p:spPr>
          <a:xfrm xmlns:a="http://schemas.openxmlformats.org/drawingml/2006/main">
            <a:off x="1501140" y="1257300"/>
            <a:ext cx="9189720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3DD44-1DC7-492F-95D2-0047EC55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57D79-C92D-4533-ADEA-B2CA1DE8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BC79F-FCEF-4CC4-AE40-0B900927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EE565-02B2-4433-82CC-E53059B1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5/17</a:t>
            </a:r>
          </a:p>
        </p:txBody>
      </p:sp>
    </p:spTree>
    <p:extLst>
      <p:ext uri="{BB962C8B-B14F-4D97-AF65-F5344CB8AC3E}">
        <p14:creationId xmlns:p14="http://schemas.microsoft.com/office/powerpoint/2010/main" val="619974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22ABD-1974-4B9A-AAB0-331C223C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La PTF cayó en 10 de los 21 años observados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5ACE7-8AE6-4833-B99C-B68268E4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2A924-9089-4C28-AFE5-3DB81A8D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4CEAB-B904-4C7A-8A7D-48E4120A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El saldo fue una caída acumulada de 2,8%, equivalente a –0,14% por año.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6ed73001847bc"/>
          <a:stretch xmlns:a="http://schemas.openxmlformats.org/drawingml/2006/main"/>
        </p:blipFill>
        <p:spPr>
          <a:xfrm xmlns:a="http://schemas.openxmlformats.org/drawingml/2006/main">
            <a:off x="1501140" y="1257300"/>
            <a:ext cx="9189720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62A85-D160-4FA3-8146-4146090F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205E4-2F4F-4108-B181-5909FA21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73E29-F5DF-41D0-90D2-EA84822F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F4DCC-F98A-421B-9758-3A3EE16C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6/17</a:t>
            </a:r>
          </a:p>
        </p:txBody>
      </p:sp>
    </p:spTree>
    <p:extLst>
      <p:ext uri="{BB962C8B-B14F-4D97-AF65-F5344CB8AC3E}">
        <p14:creationId xmlns:p14="http://schemas.microsoft.com/office/powerpoint/2010/main" val="557732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8EFD2-6FC9-430E-971F-45D2B9E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El crecimiento dependió del trabajo y el capital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F4C5D-A58A-470C-87CD-32E6734D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26A17-22A0-48BF-B75B-D2D8B673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E6E08-4845-4C5C-BFD2-C8121490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Trabajo: +1,73 pp; capital: +1,79 pp; PTF: –0,14 pp por año.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aac14128b4e9b"/>
          <a:stretch xmlns:a="http://schemas.openxmlformats.org/drawingml/2006/main"/>
        </p:blipFill>
        <p:spPr>
          <a:xfrm xmlns:a="http://schemas.openxmlformats.org/drawingml/2006/main">
            <a:off x="1501140" y="1257300"/>
            <a:ext cx="9189720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F3F08-C053-4078-9073-1A24B95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B6CDF-8EBC-4434-B86A-B524F34E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109AC-E481-48B8-82DE-282CB9C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48AE8-8B57-479B-B3C4-8A719C42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7/17</a:t>
            </a:r>
          </a:p>
        </p:txBody>
      </p:sp>
    </p:spTree>
    <p:extLst>
      <p:ext uri="{BB962C8B-B14F-4D97-AF65-F5344CB8AC3E}">
        <p14:creationId xmlns:p14="http://schemas.microsoft.com/office/powerpoint/2010/main" val="1883280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B8AAF-52BA-439F-B826-E824508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La PTF no evolucionó igual en todas las actividades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3A283-D39F-4577-B1DC-1B967BE8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8EDD0-C8F5-4869-9162-E43678E3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ACC8C-6C2D-4492-AB73-F29D879B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El estancamiento agregado oculta trayectorias anuales muy distintas.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80c49f94f4c62"/>
          <a:stretch xmlns:a="http://schemas.openxmlformats.org/drawingml/2006/main"/>
        </p:blipFill>
        <p:spPr>
          <a:xfrm xmlns:a="http://schemas.openxmlformats.org/drawingml/2006/main">
            <a:off x="2054225" y="1257300"/>
            <a:ext cx="8083550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41579-EE1B-4117-89BA-132A7EC6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AF913-8E31-4DD4-9084-AAB4BF9A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17032-4A93-4ED5-822F-0DE15053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82538-B85D-4BC7-9EC4-DD6C7C4F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8/17</a:t>
            </a:r>
          </a:p>
        </p:txBody>
      </p:sp>
    </p:spTree>
    <p:extLst>
      <p:ext uri="{BB962C8B-B14F-4D97-AF65-F5344CB8AC3E}">
        <p14:creationId xmlns:p14="http://schemas.microsoft.com/office/powerpoint/2010/main" val="7731366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7DCA5-F3FF-44AD-BB0D-E744887E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Cuatro ramas avanzaron y cinco retrocedieron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86CFA-FC3F-45AD-B819-E0A50678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A9ED5-F820-4BA4-8492-1829572E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170A2-1FAB-4485-A74E-E4244238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Comercio y hotelería acumuló +23,2%; minería, –32,1%.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863f461e34a5f"/>
          <a:stretch xmlns:a="http://schemas.openxmlformats.org/drawingml/2006/main"/>
        </p:blipFill>
        <p:spPr>
          <a:xfrm xmlns:a="http://schemas.openxmlformats.org/drawingml/2006/main">
            <a:off x="2202051" y="1257300"/>
            <a:ext cx="7787898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EB54A-CC9B-4423-AF73-B48D3DA2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FDF20-4FDD-49E6-B6B5-498487B8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C99BC-E5FB-4866-A1AB-F5A58D54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279A3-74B2-4A21-A073-24BF7EC5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9/17</a:t>
            </a:r>
          </a:p>
        </p:txBody>
      </p:sp>
    </p:spTree>
    <p:extLst>
      <p:ext uri="{BB962C8B-B14F-4D97-AF65-F5344CB8AC3E}">
        <p14:creationId xmlns:p14="http://schemas.microsoft.com/office/powerpoint/2010/main" val="331142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E92F7-D342-403C-A883-4DB96A1C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El efecto agregado depende del crecimiento y del peso de cada rama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EBF25-1551-4F6A-B3C9-FBFB6781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13280-05DC-41B0-913F-63333AD4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4CE7D-FED8-4DC5-AC43-6DDF30DB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Resultados de largo plazo bajo el enfoque de producción, 2005–2024.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409700"/>
          <a:ext xmlns:a="http://schemas.openxmlformats.org/drawingml/2006/main" cx="11049000" cy="4810125"/>
        </p:xfrm>
        <a:graphic xmlns:a="http://schemas.openxmlformats.org/drawingml/2006/main">
          <a:graphicData uri="http://schemas.openxmlformats.org/drawingml/2006/table">
            <a:tbl>
              <a:tblPr firstRow="1" lastRow="1" bandRow="1"/>
              <a:tblGrid>
                <a:gridCol w="3810000"/>
                <a:gridCol w="1809750"/>
                <a:gridCol w="1809750"/>
                <a:gridCol w="1809750"/>
                <a:gridCol w="1809750"/>
              </a:tblGrid>
              <a:tr h="4372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Actividad</a:t>
                      </a:r>
                    </a:p>
                  </a:txBody>
                  <a:tcPr marL="76200" marR="76200" marT="57150" marB="57150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Peso promedio</a:t>
                      </a:r>
                    </a:p>
                  </a:txBody>
                  <a:tcPr marL="76200" marR="76200" marT="57150" marB="57150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PTF acumulada</a:t>
                      </a:r>
                    </a:p>
                  </a:txBody>
                  <a:tcPr marL="76200" marR="76200" marT="57150" marB="57150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PTF anualizada</a:t>
                      </a:r>
                    </a:p>
                  </a:txBody>
                  <a:tcPr marL="76200" marR="76200" marT="57150" marB="57150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Contribución anual</a:t>
                      </a:r>
                    </a:p>
                  </a:txBody>
                  <a:tcPr marL="76200" marR="76200" marT="57150" marB="57150">
                    <a:solidFill>
                      <a:srgbClr val="DCE8F5"/>
                    </a:solidFill>
                  </a:tcPr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Comercio y hotelería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12,98%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23,17%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1,04%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0,13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Agropecuario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6,11%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21,84%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0,99%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0,06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Servicios sociales y personales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16,05%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14,16%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0,66%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0,11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Transporte y comunicaciones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8,63%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4,26%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0,21%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F81BD"/>
                          </a:solidFill>
                        </a:rPr>
                        <a:t>0,02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Manufactura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23,43%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–5,15%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–0,26%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–0,06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Servicios públicos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3,42%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–5,53%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–0,28%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–0,01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Construcción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8,64%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–11,06%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–0,59%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–0,05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Financieras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14,66%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–19,01%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–1,05%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–0,15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Minería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6,08%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–32,09%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–1,93%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44E52"/>
                          </a:solidFill>
                        </a:rPr>
                        <a:t>–0,11 pp</a:t>
                      </a:r>
                    </a:p>
                  </a:txBody>
                  <a:tcPr marL="76200" marR="76200" marT="47625" marB="47625"/>
                </a:tc>
              </a:tr>
              <a:tr h="4372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Total de la economía</a:t>
                      </a:r>
                    </a:p>
                  </a:txBody>
                  <a:tcPr marL="76200" marR="76200" marT="47625" marB="47625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100,00%</a:t>
                      </a:r>
                    </a:p>
                  </a:txBody>
                  <a:tcPr marL="76200" marR="76200" marT="47625" marB="47625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–1,45%</a:t>
                      </a:r>
                    </a:p>
                  </a:txBody>
                  <a:tcPr marL="76200" marR="76200" marT="47625" marB="47625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–0,07%</a:t>
                      </a:r>
                    </a:p>
                  </a:txBody>
                  <a:tcPr marL="76200" marR="76200" marT="47625" marB="47625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–0,07 pp</a:t>
                      </a:r>
                    </a:p>
                  </a:txBody>
                  <a:tcPr marL="76200" marR="76200" marT="47625" marB="47625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88E8A-2495-4883-A496-62361534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9A0A8-ACFC-47FB-96D7-D5C50CE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A9528-E4E4-44EE-857D-B9B16EB8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A23F3-1D99-4A0E-B425-4DE90522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10/17</a:t>
            </a:r>
          </a:p>
        </p:txBody>
      </p:sp>
    </p:spTree>
    <p:extLst>
      <p:ext uri="{BB962C8B-B14F-4D97-AF65-F5344CB8AC3E}">
        <p14:creationId xmlns:p14="http://schemas.microsoft.com/office/powerpoint/2010/main" val="2129256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EC83B-759F-4F46-862D-71340E34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Las contribuciones positivas y negativas casi se compensaron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4E6AA-1296-4BE1-9597-025E8C8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0BCA2-8036-480F-8F56-BB920E75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F4EE5-EFBD-4C72-A0BC-67517E6D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Cuatro ramas sumaron +0,32 pp por año; cinco restaron –0,39 pp.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2a0cd3ddf4b0a"/>
          <a:stretch xmlns:a="http://schemas.openxmlformats.org/drawingml/2006/main"/>
        </p:blipFill>
        <p:spPr>
          <a:xfrm xmlns:a="http://schemas.openxmlformats.org/drawingml/2006/main">
            <a:off x="1993446" y="1257300"/>
            <a:ext cx="820510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E0710-6F18-4DB6-8B53-98BCD45F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EBE3C-55A8-4F11-BE15-98EACF6C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6CD59-EA70-46D7-B135-C8EEDDE3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7DEEB-D8F2-4D7F-8C02-A1688CFC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11/17</a:t>
            </a:r>
          </a:p>
        </p:txBody>
      </p:sp>
    </p:spTree>
    <p:extLst>
      <p:ext uri="{BB962C8B-B14F-4D97-AF65-F5344CB8AC3E}">
        <p14:creationId xmlns:p14="http://schemas.microsoft.com/office/powerpoint/2010/main" val="26179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C1B55-A3F8-4BFE-92F9-13CE9070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El signo de las contribuciones cambió entre subperiodos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378D3-C4C8-4140-A5FD-A95985F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867E8-1F19-4A9B-8ACA-6FDB88AE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2733F-5105-4525-BF08-5105EC4B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Los avances y retrocesos no fueron permanentes ni comunes a todas las ramas.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85891fd434f8c"/>
          <a:stretch xmlns:a="http://schemas.openxmlformats.org/drawingml/2006/main"/>
        </p:blipFill>
        <p:spPr>
          <a:xfrm xmlns:a="http://schemas.openxmlformats.org/drawingml/2006/main">
            <a:off x="1993446" y="1257300"/>
            <a:ext cx="820510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60FCB-E432-406D-BB6F-89437E09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22C67-0512-4636-8DFA-D023ADE0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D559D-531B-49B7-AA8E-2B118DC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6B9CF-B917-46E5-BD53-CA92795B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12/17</a:t>
            </a:r>
          </a:p>
        </p:txBody>
      </p:sp>
    </p:spTree>
    <p:extLst>
      <p:ext uri="{BB962C8B-B14F-4D97-AF65-F5344CB8AC3E}">
        <p14:creationId xmlns:p14="http://schemas.microsoft.com/office/powerpoint/2010/main" val="19865264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7E240-9072-4DAB-95D1-32E7FDF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Todas las ramas aumentaron su producción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BFCD8-7F9F-430C-8589-9F26C2D7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BC0F4-7FBB-48C3-AD3E-4C7AE8AF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2BEC8-D3E9-4CD4-91F3-8BBB25EE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La acumulación de factores sostuvo el crecimiento, aunque la PTF cayó en cinco ramas.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646cd01ce45da"/>
          <a:stretch xmlns:a="http://schemas.openxmlformats.org/drawingml/2006/main"/>
        </p:blipFill>
        <p:spPr>
          <a:xfrm xmlns:a="http://schemas.openxmlformats.org/drawingml/2006/main">
            <a:off x="1993446" y="1257300"/>
            <a:ext cx="820510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ABBEE-5320-4D47-B4E0-44262F12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0FFB1-0205-4DE2-AA4B-FF92404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09342-9B16-40C1-A2E8-833D1D3E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58761-9370-4BBA-B971-E70FAB2E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13/17</a:t>
            </a:r>
          </a:p>
        </p:txBody>
      </p:sp>
    </p:spTree>
    <p:extLst>
      <p:ext uri="{BB962C8B-B14F-4D97-AF65-F5344CB8AC3E}">
        <p14:creationId xmlns:p14="http://schemas.microsoft.com/office/powerpoint/2010/main" val="10543776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87FA7-8106-4AB3-9707-2ADD5502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Cinco caídas de PTF borraron las ganancias de cuatro ramas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40A14-1843-4D33-81B0-C4DDAE51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43671-CF4B-4F02-9294-FFDA80C6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28EB3-AC3B-435E-87E4-023E466E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Sin las contribuciones negativas, la economía habría crecido 3,65% anual.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7d731b5eb4338"/>
          <a:stretch xmlns:a="http://schemas.openxmlformats.org/drawingml/2006/main"/>
        </p:blipFill>
        <p:spPr>
          <a:xfrm xmlns:a="http://schemas.openxmlformats.org/drawingml/2006/main">
            <a:off x="1993446" y="1257300"/>
            <a:ext cx="820510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620E0-0E38-491D-9BC5-40D3722E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4BCAC-82DF-4495-87C6-C3E8042A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AEDFB-0E97-497D-B487-00700E3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9838C-4CAC-473D-9D6A-B8439010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14/17</a:t>
            </a:r>
          </a:p>
        </p:txBody>
      </p:sp>
    </p:spTree>
    <p:extLst>
      <p:ext uri="{BB962C8B-B14F-4D97-AF65-F5344CB8AC3E}">
        <p14:creationId xmlns:p14="http://schemas.microsoft.com/office/powerpoint/2010/main" val="16409001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3ECC4-E66B-42F9-8470-07AC77E6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La política de productividad debe empezar por cuatro actividades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55599-CC5E-4718-9C0B-0E675F72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1B324-FC5A-4553-9852-6B0F4131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6DC49-7D98-4643-8BAA-8DE692F1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Financieras, minería, manufactura y construcción fueron las que más redujeron el crecimiento.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5D4D4-56DF-493F-A52E-3AD07AAC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C44E52"/>
                </a:solidFill>
              </a:defRPr>
            </a:pPr>
            <a:r>
              <a:rPr sz="3450" b="1">
                <a:solidFill>
                  <a:srgbClr val="C44E52"/>
                </a:solidFill>
              </a:rPr>
              <a:t>–0,38 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B9D9D-4287-4FFD-B065-8D5C250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3355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por año restaron conjuntamente al crecimiento de la economía.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EFD57-DE52-46D8-A9B7-2E13F7BD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67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50424-C066-49BB-9B00-6D44182B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4F81BD"/>
                </a:solidFill>
              </a:defRPr>
            </a:pPr>
            <a:r>
              <a:rPr sz="3450" b="1">
                <a:solidFill>
                  <a:srgbClr val="4F81BD"/>
                </a:solidFill>
              </a:rPr>
              <a:t>+0,30 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104E8-C749-4E38-A36E-C52AF7FB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14675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por año aportaron comercio y hotelería, agropecuario y servicios sociales y personales.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645AD-8554-417A-AF6F-7BCC7BEC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481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37FAD-76F0-49B9-B9E7-A1A1FC8F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17365D"/>
                </a:solidFill>
              </a:defRPr>
            </a:pPr>
            <a:r>
              <a:rPr sz="2400" b="1">
                <a:solidFill>
                  <a:srgbClr val="17365D"/>
                </a:solidFill>
              </a:rPr>
              <a:t>Pregunta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3C806-30A3-47BB-9977-A23F4530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958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22222"/>
                </a:solidFill>
              </a:defRPr>
            </a:pPr>
            <a:r>
              <a:rPr sz="1875">
                <a:solidFill>
                  <a:srgbClr val="222222"/>
                </a:solidFill>
              </a:rPr>
              <a:t>¿Qué obstáculos explican la caída de la PTF en las cuatro actividades que más restaron?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3EF57-F05D-46E4-988E-D718AA73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429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4249D-C527-4903-975A-67D3CC1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9F3CD1-1723-45B5-B6A6-D43C921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AA326-B99B-4A14-99EE-2E0E5192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B1C90-FB27-4B74-9491-4F137234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15/17</a:t>
            </a:r>
          </a:p>
        </p:txBody>
      </p:sp>
    </p:spTree>
    <p:extLst>
      <p:ext uri="{BB962C8B-B14F-4D97-AF65-F5344CB8AC3E}">
        <p14:creationId xmlns:p14="http://schemas.microsoft.com/office/powerpoint/2010/main" val="20879163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C24B5-CF9C-45B4-81CD-F3F5BD6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Apéndice: qué incluye cada rama de actividad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4BBCD-5185-403E-954B-A6F8ECEB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EA595-A32B-4128-98B3-28338C0A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18C49-61E1-4903-AD36-753D2065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El DANE publica la PTF sectorial con esta desagregación máxima.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4286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8001000"/>
              </a:tblGrid>
              <a:tr h="714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65D"/>
                          </a:solidFill>
                        </a:rPr>
                        <a:t>Rama</a:t>
                      </a:r>
                    </a:p>
                  </a:txBody>
                  <a:tcPr marL="95250" marR="95250" marT="76200" marB="76200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65D"/>
                          </a:solidFill>
                        </a:rPr>
                        <a:t>Subactividades incluidas</a:t>
                      </a:r>
                    </a:p>
                  </a:txBody>
                  <a:tcPr marL="95250" marR="95250" marT="76200" marB="76200">
                    <a:solidFill>
                      <a:srgbClr val="DCE8F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Agropecuario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Agricultura, ganadería, caza, silvicultura y pesca.</a:t>
                      </a:r>
                    </a:p>
                  </a:txBody>
                  <a:tcPr marL="95250" marR="95250" marT="76200" marB="7620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Minería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Explotación de minas y canteras.</a:t>
                      </a:r>
                    </a:p>
                  </a:txBody>
                  <a:tcPr marL="95250" marR="95250" marT="76200" marB="7620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Manufactura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Alimentos, textiles, refinación, químicos, metales, maquinaria, equipo y otras manufacturas.</a:t>
                      </a:r>
                    </a:p>
                  </a:txBody>
                  <a:tcPr marL="95250" marR="95250" marT="76200" marB="7620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Servicios públicos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Suministro de electricidad, gas y agua.</a:t>
                      </a:r>
                    </a:p>
                  </a:txBody>
                  <a:tcPr marL="95250" marR="95250" marT="76200" marB="7620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Construcción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Construcción.</a:t>
                      </a:r>
                    </a:p>
                  </a:txBody>
                  <a:tcPr marL="95250" marR="95250" marT="76200" marB="762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78E55-0E65-4109-922C-A2A6067E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</a:defRPr>
            </a:pPr>
            <a:r>
              <a:rPr sz="1050">
                <a:solidFill>
                  <a:srgbClr val="6B6B6B"/>
                </a:solidFill>
              </a:rPr>
              <a:t>Fuente: DANE.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5519D-B2C1-45ED-8AC7-27DDEFF4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38F8A-A348-42E9-8F92-AC12D8AA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A5D85-F450-40EE-BEA7-58D33B31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148F3-D442-4AB7-AD7E-3D51F580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16/17</a:t>
            </a:r>
          </a:p>
        </p:txBody>
      </p:sp>
    </p:spTree>
    <p:extLst>
      <p:ext uri="{BB962C8B-B14F-4D97-AF65-F5344CB8AC3E}">
        <p14:creationId xmlns:p14="http://schemas.microsoft.com/office/powerpoint/2010/main" val="2196873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F1546-4785-4543-A136-F21E9B84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1120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Apéndice: las ramas de servicios agrupan actividades heterogéneas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E5AAA-3A34-497F-AEA6-83D8CC5F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400"/>
          </a:solidFill>
          <a:ln xmlns:a="http://schemas.openxmlformats.org/drawingml/2006/main" w="0">
            <a:solidFill>
              <a:srgbClr val="F2C4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83716-5555-4CAE-84D3-0CC7E253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7810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92720-2575-4E98-84A4-55088DF2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EA8"/>
                </a:solidFill>
              </a:defRPr>
            </a:pPr>
            <a:r>
              <a:rPr sz="1650" b="1">
                <a:solidFill>
                  <a:srgbClr val="1F5EA8"/>
                </a:solidFill>
              </a:rPr>
              <a:t>Las categorías permiten comparar toda la economía, pero no identificar resultados por subactividad.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7715250"/>
              </a:tblGrid>
              <a:tr h="8191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65D"/>
                          </a:solidFill>
                        </a:rPr>
                        <a:t>Rama</a:t>
                      </a:r>
                    </a:p>
                  </a:txBody>
                  <a:tcPr marL="95250" marR="95250" marT="76200" marB="76200">
                    <a:solidFill>
                      <a:srgbClr val="DCE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65D"/>
                          </a:solidFill>
                        </a:rPr>
                        <a:t>Subactividades incluidas</a:t>
                      </a:r>
                    </a:p>
                  </a:txBody>
                  <a:tcPr marL="95250" marR="95250" marT="76200" marB="76200">
                    <a:solidFill>
                      <a:srgbClr val="DCE8F5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Comercio y hotelería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Comercio, reparación de vehículos, hoteles y restaurantes.</a:t>
                      </a:r>
                    </a:p>
                  </a:txBody>
                  <a:tcPr marL="95250" marR="95250" marT="76200" marB="7620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Transporte y comunicaciones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Transporte, almacenamiento y comunicaciones.</a:t>
                      </a:r>
                    </a:p>
                  </a:txBody>
                  <a:tcPr marL="95250" marR="95250" marT="76200" marB="7620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Financieras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Intermediación financiera; actividades inmobiliarias, empresariales y de alquiler.</a:t>
                      </a:r>
                    </a:p>
                  </a:txBody>
                  <a:tcPr marL="95250" marR="95250" marT="76200" marB="7620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</a:rPr>
                        <a:t>Servicios sociales y personales</a:t>
                      </a:r>
                    </a:p>
                  </a:txBody>
                  <a:tcPr marL="95250" marR="95250" marT="76200" marB="7620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22222"/>
                          </a:solidFill>
                        </a:rPr>
                        <a:t>Administración pública, educación, salud, servicios comunitarios y personales, hogares y organismos extraterritoriales.</a:t>
                      </a:r>
                    </a:p>
                  </a:txBody>
                  <a:tcPr marL="95250" marR="95250" marT="76200" marB="7620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FCEE2-7483-418E-A775-7EAADCEC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6B6B"/>
                </a:solidFill>
              </a:defRPr>
            </a:pPr>
            <a:r>
              <a:rPr sz="1050">
                <a:solidFill>
                  <a:srgbClr val="6B6B6B"/>
                </a:solidFill>
              </a:rPr>
              <a:t>Fuente: DANE.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AF25B-9B32-47A8-9AC8-2534975C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952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A8"/>
          </a:solidFill>
          <a:ln xmlns:a="http://schemas.openxmlformats.org/drawingml/2006/main" w="0">
            <a:solidFill>
              <a:srgbClr val="1F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9A9AB-F216-4195-8D94-2B3B9DE2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532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0">
            <a:solidFill>
              <a:srgbClr val="4A4A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E5C15-3A0A-4825-AA67-EFC23BCD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91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Centro Javeriano de Competitividad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E88C2-C750-4BBB-98BA-1199137C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91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17/17</a:t>
            </a:r>
          </a:p>
        </p:txBody>
      </p:sp>
    </p:spTree>
    <p:extLst>
      <p:ext uri="{BB962C8B-B14F-4D97-AF65-F5344CB8AC3E}">
        <p14:creationId xmlns:p14="http://schemas.microsoft.com/office/powerpoint/2010/main" val="4702736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2026-08-02T12:08:41.3690000Z</dcterms:created>
  <dcterms:modified xsi:type="dcterms:W3CDTF">2026-08-02T12:08:41.3700000Z</dcterms:modified>
</coreProperties>
</file>